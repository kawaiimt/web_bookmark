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>
                  <a:alpha val="10000"/>
                </a:srgbClr>
              </a:gs>
              <a:gs pos="50000">
                <a:srgbClr val="3B82F6">
                  <a:alpha val="3000"/>
                </a:srgbClr>
              </a:gs>
              <a:gs pos="100000">
                <a:srgbClr val="0F17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5CF6">
                  <a:alpha val="6000"/>
                </a:srgbClr>
              </a:gs>
              <a:gs pos="100000">
                <a:srgbClr val="0F17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3429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sp>
        <p:nvSpPr>
          <p:cNvPr id="6" name="Polygon 6"/>
          <p:cNvSpPr/>
          <p:nvPr/>
        </p:nvSpPr>
        <p:spPr>
          <a:xfrm>
            <a:off x="10668000" y="1047750"/>
            <a:ext cx="190500" cy="285750"/>
          </a:xfrm>
          <a:custGeom>
            <a:avLst/>
            <a:gdLst/>
            <a:ahLst/>
            <a:cxnLst/>
            <a:rect l="l" t="t" r="r" b="b"/>
            <a:pathLst>
              <a:path w="190500" h="285750">
                <a:moveTo>
                  <a:pt x="0" y="95250"/>
                </a:moveTo>
                <a:lnTo>
                  <a:pt x="95250" y="0"/>
                </a:lnTo>
                <a:lnTo>
                  <a:pt x="190500" y="95250"/>
                </a:lnTo>
                <a:lnTo>
                  <a:pt x="190500" y="190500"/>
                </a:lnTo>
                <a:lnTo>
                  <a:pt x="95250" y="285750"/>
                </a:lnTo>
                <a:lnTo>
                  <a:pt x="0" y="190500"/>
                </a:lnTo>
                <a:close/>
              </a:path>
            </a:pathLst>
          </a:custGeom>
          <a:noFill/>
          <a:ln w="9525">
            <a:solidFill>
              <a:srgbClr val="3B82F6">
                <a:alpha val="3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0734675" y="1162050"/>
            <a:ext cx="57150" cy="57150"/>
          </a:xfrm>
          <a:prstGeom prst="ellipse">
            <a:avLst/>
          </a:prstGeom>
          <a:solidFill>
            <a:srgbClr val="06B6D4">
              <a:alpha val="40000"/>
            </a:srgbClr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1714500" y="52578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76200"/>
                </a:moveTo>
                <a:lnTo>
                  <a:pt x="76200" y="0"/>
                </a:lnTo>
                <a:lnTo>
                  <a:pt x="152400" y="76200"/>
                </a:lnTo>
                <a:lnTo>
                  <a:pt x="152400" y="152400"/>
                </a:lnTo>
                <a:lnTo>
                  <a:pt x="76200" y="228600"/>
                </a:lnTo>
                <a:lnTo>
                  <a:pt x="0" y="152400"/>
                </a:lnTo>
                <a:close/>
              </a:path>
            </a:pathLst>
          </a:custGeom>
          <a:noFill/>
          <a:ln w="9525">
            <a:solidFill>
              <a:srgbClr val="8B5CF6">
                <a:alpha val="2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1771650" y="5353050"/>
            <a:ext cx="38100" cy="38100"/>
          </a:xfrm>
          <a:prstGeom prst="ellipse">
            <a:avLst/>
          </a:prstGeom>
          <a:solidFill>
            <a:srgbClr val="8B5CF6">
              <a:alpha val="30000"/>
            </a:srgbClr>
          </a:solidFill>
          <a:ln>
            <a:noFill/>
          </a:ln>
        </p:spPr>
      </p:sp>
      <p:sp>
        <p:nvSpPr>
          <p:cNvPr id="10" name="Line 10"/>
          <p:cNvSpPr/>
          <p:nvPr/>
        </p:nvSpPr>
        <p:spPr>
          <a:xfrm>
            <a:off x="571500" y="762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3B82F6">
                <a:alpha val="4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571500" y="762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3B82F6">
                <a:alpha val="4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10477500" y="6096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6B6D4">
                <a:alpha val="3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1620500" y="5810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6B6D4">
                <a:alpha val="30000"/>
              </a:srgbClr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5867400" y="1619250"/>
            <a:ext cx="457200" cy="571500"/>
            <a:chOff x="5867400" y="1619250"/>
            <a:chExt cx="457200" cy="571500"/>
          </a:xfrm>
        </p:grpSpPr>
        <p:sp>
          <p:nvSpPr>
            <p:cNvPr id="14" name="Freeform 14"/>
            <p:cNvSpPr/>
            <p:nvPr/>
          </p:nvSpPr>
          <p:spPr>
            <a:xfrm>
              <a:off x="5867400" y="1619250"/>
              <a:ext cx="457200" cy="571500"/>
            </a:xfrm>
            <a:custGeom>
              <a:avLst/>
              <a:gdLst/>
              <a:ahLst/>
              <a:cxnLst/>
              <a:rect l="l" t="t" r="r" b="b"/>
              <a:pathLst>
                <a:path w="457200" h="571500">
                  <a:moveTo>
                    <a:pt x="0" y="0"/>
                  </a:moveTo>
                  <a:lnTo>
                    <a:pt x="457200" y="0"/>
                  </a:lnTo>
                  <a:lnTo>
                    <a:pt x="457200" y="571500"/>
                  </a:lnTo>
                  <a:lnTo>
                    <a:pt x="228600" y="457200"/>
                  </a:lnTo>
                  <a:lnTo>
                    <a:pt x="0" y="571500"/>
                  </a:lnTo>
                  <a:close/>
                </a:path>
              </a:pathLst>
            </a:custGeom>
            <a:noFill/>
            <a:ln w="23812">
              <a:gradFill>
                <a:gsLst>
                  <a:gs pos="0">
                    <a:srgbClr val="3B82F6"/>
                  </a:gs>
                  <a:gs pos="100000">
                    <a:srgbClr val="06B6D4"/>
                  </a:gs>
                </a:gsLst>
                <a:lin ang="0" scaled="1"/>
              </a:gradFill>
              <a:round/>
            </a:ln>
          </p:spPr>
        </p:sp>
        <p:sp>
          <p:nvSpPr>
            <p:cNvPr id="15" name="Freeform 15"/>
            <p:cNvSpPr/>
            <p:nvPr/>
          </p:nvSpPr>
          <p:spPr>
            <a:xfrm>
              <a:off x="5867400" y="16192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  <a:ln w="23812">
              <a:gradFill>
                <a:gsLst>
                  <a:gs pos="0">
                    <a:srgbClr val="3B82F6"/>
                  </a:gs>
                  <a:gs pos="100000">
                    <a:srgbClr val="06B6D4"/>
                  </a:gs>
                </a:gsLst>
                <a:lin ang="0" scaled="1"/>
              </a:gra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496329" y="2179320"/>
            <a:ext cx="3199343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MarkBox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0" y="2952750"/>
            <a:ext cx="2286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50000">
                <a:srgbClr val="06B6D4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871130" y="3249930"/>
            <a:ext cx="24497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0" scaled="1"/>
                </a:gradFill>
                <a:latin typeface="Arial"/>
                <a:ea typeface="Microsoft YaHei"/>
                <a:cs typeface="Arial"/>
              </a:rPr>
              <a:t>AI 智能书签管理器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68204" y="3902392"/>
            <a:ext cx="24555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粘贴链接 · AI 理解 · 知识沉淀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82478" y="5982652"/>
            <a:ext cx="3027045" cy="422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650"/>
              </a:lnSpc>
            </a:pPr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 xml:space="preserve">github.com/KaWaIiMT/Web_Bookmark </a:t>
            </a:r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Next.js 16 · React 19 · Prisma 7 · DeepSeek V4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5355" y="15687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问 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6780" y="1992630"/>
            <a:ext cx="2971800" cy="1283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350"/>
              </a:lnSpc>
            </a:pPr>
            <a:r>
              <a:rPr lang="zh-CN" sz="36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收藏从未停止</a:t>
            </a:r>
            <a:r>
              <a:rPr lang="zh-CN" sz="36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整理从未开始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30480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35355" y="3473768"/>
            <a:ext cx="1748790" cy="541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信息过载时代</a:t>
            </a:r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传统书签管理已经失效</a:t>
            </a:r>
          </a:p>
        </p:txBody>
      </p:sp>
      <p:sp>
        <p:nvSpPr>
          <p:cNvPr id="7" name="Line 7"/>
          <p:cNvSpPr/>
          <p:nvPr/>
        </p:nvSpPr>
        <p:spPr>
          <a:xfrm>
            <a:off x="5143500" y="952500"/>
            <a:ext cx="9525" cy="4953000"/>
          </a:xfrm>
          <a:custGeom>
            <a:avLst/>
            <a:gdLst/>
            <a:ahLst/>
            <a:cxnLst/>
            <a:rect l="l" t="t" r="r" b="b"/>
            <a:pathLst>
              <a:path w="9525"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0" y="952500"/>
            <a:ext cx="5715000" cy="14287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0" y="952500"/>
            <a:ext cx="38100" cy="14287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73140" y="1234440"/>
            <a:ext cx="34481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500+ 链接，想找的永远找不到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79808" y="1624489"/>
            <a:ext cx="2947035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浏览器收藏夹混乱、文件夹嵌套越来越深</a:t>
            </a: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缺乏智能分类和全文搜索能力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0" y="2667000"/>
            <a:ext cx="5715000" cy="14287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0" y="2667000"/>
            <a:ext cx="38100" cy="1428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073140" y="2948940"/>
            <a:ext cx="35741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看到好文章就存，存完再也不看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79808" y="3338989"/>
            <a:ext cx="246126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沦为「数字仓鼠」— 收藏=完成</a:t>
            </a: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缺乏阅读状态追踪和定期回顾机制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0" y="4381500"/>
            <a:ext cx="5715000" cy="142875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0" y="4381500"/>
            <a:ext cx="38100" cy="14287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073140" y="4663440"/>
            <a:ext cx="33221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知识散落各处，无法形成体系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79808" y="5053489"/>
            <a:ext cx="2137410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孤立的链接之间缺乏关联</a:t>
            </a:r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无法从收藏中形成结构化知识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>
                  <a:alpha val="12000"/>
                </a:srgbClr>
              </a:gs>
              <a:gs pos="100000">
                <a:srgbClr val="0F17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37800" y="99726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解 决 方 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40701" y="1644015"/>
            <a:ext cx="6310598" cy="1184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4050"/>
              </a:lnSpc>
            </a:pPr>
            <a:r>
              <a:rPr lang="zh-CN" sz="33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一个链接进来</a:t>
            </a:r>
            <a:r>
              <a:rPr lang="zh-CN" sz="33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自动提取、理解、分类、关联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2286000"/>
            <a:ext cx="1905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861798" y="2695575"/>
            <a:ext cx="24684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你只管收藏，剩下的交给 AI</a:t>
            </a:r>
          </a:p>
        </p:txBody>
      </p:sp>
      <p:sp>
        <p:nvSpPr>
          <p:cNvPr id="8" name="Rectangle 8"/>
          <p:cNvSpPr/>
          <p:nvPr/>
        </p:nvSpPr>
        <p:spPr>
          <a:xfrm>
            <a:off x="1524000" y="381000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495550" y="3924300"/>
            <a:ext cx="533400" cy="5334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677762" y="40700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2079" y="4584382"/>
            <a:ext cx="7003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📎 收藏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22859" y="4926806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粘贴链接或一键扩展收藏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4572000"/>
            <a:ext cx="571500" cy="1"/>
          </a:xfrm>
          <a:prstGeom prst="line">
            <a:avLst/>
          </a:prstGeom>
          <a:noFill/>
          <a:ln w="19050">
            <a:solidFill>
              <a:srgbClr val="3B82F6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857750" y="381000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5829300" y="3924300"/>
            <a:ext cx="533400" cy="533400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011512" y="40700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12987" y="45843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🧠 AI 理解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31619" y="492680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自动摘要、标签、分类</a:t>
            </a:r>
          </a:p>
        </p:txBody>
      </p:sp>
      <p:sp>
        <p:nvSpPr>
          <p:cNvPr id="19" name="Line 19"/>
          <p:cNvSpPr/>
          <p:nvPr/>
        </p:nvSpPr>
        <p:spPr>
          <a:xfrm>
            <a:off x="7429500" y="4572000"/>
            <a:ext cx="571500" cy="1"/>
          </a:xfrm>
          <a:prstGeom prst="line">
            <a:avLst/>
          </a:prstGeom>
          <a:noFill/>
          <a:ln w="19050">
            <a:solidFill>
              <a:srgbClr val="06B6D4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8191500" y="381000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9163050" y="3924300"/>
            <a:ext cx="533400" cy="533400"/>
          </a:xfrm>
          <a:prstGeom prst="ellipse">
            <a:avLst/>
          </a:prstGeom>
          <a:noFill/>
          <a:ln w="19050">
            <a:solidFill>
              <a:srgbClr val="8B5CF6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345262" y="40700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5CF6"/>
                </a:solidFill>
                <a:latin typeface="Consolas"/>
                <a:ea typeface="Microsoft YaHei"/>
                <a:cs typeface="Consolas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48550" y="4584382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📊 知识网络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40378" y="49268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自动生长关联与洞察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49166" y="5863114"/>
            <a:ext cx="2293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三步闭环：收藏 → 理解 → 发现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54815" y="616268"/>
            <a:ext cx="6823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技 术 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7568" y="946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现代全栈架构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4097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180975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52500" y="180975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16355" y="209264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Next.js 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7308" y="2386489"/>
            <a:ext cx="28377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全栈框架 · App Router · Turbopack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9212" y="2688431"/>
            <a:ext cx="20688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React 19.2 + TypeScript 5.x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80975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286500" y="180975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650355" y="2092642"/>
            <a:ext cx="10172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Prisma 7.8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1308" y="2386489"/>
            <a:ext cx="25316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类型安全 ORM · SQLite (libsql)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3212" y="2688431"/>
            <a:ext cx="24138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零配置 · 自动迁移 · Prisma Studio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42900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952500" y="34290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16355" y="3711892"/>
            <a:ext cx="16598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B5CF6"/>
                </a:solidFill>
                <a:latin typeface="Consolas"/>
                <a:ea typeface="Microsoft YaHei"/>
                <a:cs typeface="Consolas"/>
              </a:rPr>
              <a:t>DeepSeek V4 Flash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7308" y="4005739"/>
            <a:ext cx="24041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引擎 · 标签/分类/摘要/对比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9212" y="4307681"/>
            <a:ext cx="2023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批量处理 · 低成本 · 中文优化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3429000"/>
            <a:ext cx="4953000" cy="133350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34290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50355" y="3711892"/>
            <a:ext cx="6202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UI &amp; UX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1308" y="4005739"/>
            <a:ext cx="290574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Tailwind CSS 4 + shadcn/ui + motion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3212" y="4307681"/>
            <a:ext cx="27589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dnd-kit 拖拽 · Recharts 图表 · sonner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56299" y="5220652"/>
            <a:ext cx="58794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+ next-auth · lucide-react · date-fns · next-themes · Web Speech API · Web Audio API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667000" y="5572125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2816781" y="565594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TypeScript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810000" y="5572125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941397" y="565594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next-auth v5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048250" y="5572125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154168" y="5655945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dnd-kit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905500" y="5572125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058662" y="565594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Recharts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953250" y="5572125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099649" y="5655945"/>
            <a:ext cx="75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lucide-react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91500" y="5572125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363045" y="5655945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sonner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68316" y="6162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AI 引 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1167" y="946785"/>
            <a:ext cx="31496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驱动的智能理解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4097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124563" y="1624489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让每个书签从「一个链接」变成「一份结构化知识」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2286000"/>
            <a:ext cx="3238500" cy="32385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2286000" y="2667000"/>
            <a:ext cx="571500" cy="476250"/>
            <a:chOff x="2286000" y="2667000"/>
            <a:chExt cx="571500" cy="476250"/>
          </a:xfrm>
        </p:grpSpPr>
        <p:sp>
          <p:nvSpPr>
            <p:cNvPr id="8" name="Freeform 8"/>
            <p:cNvSpPr/>
            <p:nvPr/>
          </p:nvSpPr>
          <p:spPr>
            <a:xfrm>
              <a:off x="2286000" y="266700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19050" y="0"/>
                  </a:moveTo>
                  <a:lnTo>
                    <a:pt x="552450" y="0"/>
                  </a:lnTo>
                  <a:lnTo>
                    <a:pt x="571500" y="190500"/>
                  </a:lnTo>
                  <a:lnTo>
                    <a:pt x="285750" y="476250"/>
                  </a:lnTo>
                  <a:lnTo>
                    <a:pt x="19050" y="476250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23812">
              <a:gradFill>
                <a:gsLst>
                  <a:gs pos="0">
                    <a:srgbClr val="3B82F6"/>
                  </a:gs>
                  <a:gs pos="100000">
                    <a:srgbClr val="06B6D4"/>
                  </a:gs>
                </a:gsLst>
                <a:lin ang="2700000" scaled="1"/>
              </a:gradFill>
              <a:round/>
            </a:ln>
          </p:spPr>
        </p:sp>
        <p:sp>
          <p:nvSpPr>
            <p:cNvPr id="9" name="Ellipse 9"/>
            <p:cNvSpPr/>
            <p:nvPr/>
          </p:nvSpPr>
          <p:spPr>
            <a:xfrm>
              <a:off x="2428875" y="2809875"/>
              <a:ext cx="95250" cy="952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2044827" y="3329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自动标签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6430" y="3728085"/>
            <a:ext cx="1310640" cy="491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950"/>
              </a:lnSpc>
            </a:pP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AI 自动生成 2-5 个</a:t>
            </a: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精准中文标签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5203" y="4307681"/>
            <a:ext cx="189309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例：「React」→</a:t>
            </a: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前端框架 · 状态管理 · Hooks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476250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088213" y="484489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DeepSeek V4 Flash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476750" y="2286000"/>
            <a:ext cx="3238500" cy="32385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5810250" y="2647950"/>
            <a:ext cx="571500" cy="419100"/>
            <a:chOff x="5810250" y="2647950"/>
            <a:chExt cx="571500" cy="419100"/>
          </a:xfrm>
        </p:grpSpPr>
        <p:sp>
          <p:nvSpPr>
            <p:cNvPr id="17" name="Rectangle 17"/>
            <p:cNvSpPr/>
            <p:nvPr/>
          </p:nvSpPr>
          <p:spPr>
            <a:xfrm>
              <a:off x="5810250" y="2647950"/>
              <a:ext cx="571500" cy="419100"/>
            </a:xfrm>
            <a:prstGeom prst="roundRect">
              <a:avLst>
                <a:gd name="adj" fmla="val 9091"/>
              </a:avLst>
            </a:prstGeom>
            <a:noFill/>
            <a:ln w="23812">
              <a:gradFill>
                <a:gsLst>
                  <a:gs pos="0">
                    <a:srgbClr val="06B6D4"/>
                  </a:gs>
                  <a:gs pos="100000">
                    <a:srgbClr val="10B981"/>
                  </a:gs>
                </a:gsLst>
                <a:lin ang="2700000" scaled="1"/>
              </a:gradFill>
            </a:ln>
          </p:spPr>
        </p:sp>
        <p:sp>
          <p:nvSpPr>
            <p:cNvPr id="18" name="Line 18"/>
            <p:cNvSpPr/>
            <p:nvPr/>
          </p:nvSpPr>
          <p:spPr>
            <a:xfrm>
              <a:off x="5905500" y="2762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905500" y="2857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905500" y="2952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5569077" y="3329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智能分类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18760" y="3728085"/>
            <a:ext cx="1554480" cy="491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950"/>
              </a:lnSpc>
            </a:pP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自动建议层级分类路径</a:t>
            </a: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支持多级嵌套结构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38775" y="4307681"/>
            <a:ext cx="1314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例：前端 &gt; React &gt;</a:t>
            </a: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状态管理 &gt; Zustand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0" y="476250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55481" y="484489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层级自动推断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2286000"/>
            <a:ext cx="3238500" cy="32385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9382125" y="2571750"/>
            <a:ext cx="476250" cy="428625"/>
            <a:chOff x="9382125" y="2571750"/>
            <a:chExt cx="476250" cy="428625"/>
          </a:xfrm>
        </p:grpSpPr>
        <p:sp>
          <p:nvSpPr>
            <p:cNvPr id="28" name="Freeform 28"/>
            <p:cNvSpPr/>
            <p:nvPr/>
          </p:nvSpPr>
          <p:spPr>
            <a:xfrm>
              <a:off x="9382125" y="2571750"/>
              <a:ext cx="476250" cy="428625"/>
            </a:xfrm>
            <a:custGeom>
              <a:avLst/>
              <a:gdLst/>
              <a:ahLst/>
              <a:cxnLst/>
              <a:rect l="l" t="t" r="r" b="b"/>
              <a:pathLst>
                <a:path w="476250" h="428625">
                  <a:moveTo>
                    <a:pt x="0" y="142875"/>
                  </a:moveTo>
                  <a:cubicBezTo>
                    <a:pt x="0" y="47625"/>
                    <a:pt x="79375" y="0"/>
                    <a:pt x="238125" y="0"/>
                  </a:cubicBezTo>
                  <a:cubicBezTo>
                    <a:pt x="396875" y="0"/>
                    <a:pt x="476250" y="47625"/>
                    <a:pt x="476250" y="142875"/>
                  </a:cubicBezTo>
                  <a:lnTo>
                    <a:pt x="476250" y="333375"/>
                  </a:lnTo>
                  <a:cubicBezTo>
                    <a:pt x="476250" y="396875"/>
                    <a:pt x="444500" y="428625"/>
                    <a:pt x="381000" y="428625"/>
                  </a:cubicBezTo>
                  <a:lnTo>
                    <a:pt x="95250" y="428625"/>
                  </a:lnTo>
                  <a:cubicBezTo>
                    <a:pt x="31750" y="428625"/>
                    <a:pt x="0" y="396875"/>
                    <a:pt x="0" y="333375"/>
                  </a:cubicBezTo>
                  <a:close/>
                </a:path>
              </a:pathLst>
            </a:custGeom>
            <a:noFill/>
            <a:ln w="23812">
              <a:gradFill>
                <a:gsLst>
                  <a:gs pos="0">
                    <a:srgbClr val="8B5CF6"/>
                  </a:gs>
                  <a:gs pos="100000">
                    <a:srgbClr val="3B82F6"/>
                  </a:gs>
                </a:gsLst>
                <a:lin ang="2700000" scaled="1"/>
              </a:gradFill>
            </a:ln>
          </p:spPr>
        </p:sp>
        <p:sp>
          <p:nvSpPr>
            <p:cNvPr id="29" name="Line 29"/>
            <p:cNvSpPr/>
            <p:nvPr/>
          </p:nvSpPr>
          <p:spPr>
            <a:xfrm>
              <a:off x="9505950" y="28098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rgbClr val="8B5CF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05950" y="28956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rgbClr val="8B5CF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544050" y="2609850"/>
              <a:ext cx="152400" cy="152400"/>
            </a:xfrm>
            <a:prstGeom prst="ellipse">
              <a:avLst/>
            </a:prstGeom>
            <a:noFill/>
            <a:ln w="14288">
              <a:solidFill>
                <a:srgbClr val="8B5CF6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9200440" y="3329940"/>
            <a:ext cx="8396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摘要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95410" y="3728085"/>
            <a:ext cx="1249680" cy="491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950"/>
              </a:lnSpc>
            </a:pP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自动生成 2-3 句</a:t>
            </a:r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中文摘要快速回顾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34462" y="4307681"/>
            <a:ext cx="117157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支持编辑模式</a:t>
            </a: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可修改已有的书签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858250" y="476250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279731" y="484489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5CF6"/>
                </a:solidFill>
                <a:latin typeface="Consolas"/>
                <a:ea typeface="Microsoft YaHei"/>
                <a:cs typeface="Consolas"/>
              </a:rPr>
              <a:t>批量处理支持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68642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功 能 闭 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7568" y="8515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从收藏到洞察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9540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714500"/>
            <a:ext cx="2476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86411" y="1932622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➕ 添加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2530" y="2366010"/>
            <a:ext cx="161544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URL 自动提取元数据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浏览器扩展一键收藏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Ctrl+Shift+S 静默收藏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0788" y="3228499"/>
            <a:ext cx="12989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/api/metadata</a:t>
            </a:r>
          </a:p>
        </p:txBody>
      </p:sp>
      <p:sp>
        <p:nvSpPr>
          <p:cNvPr id="11" name="Line 11"/>
          <p:cNvSpPr/>
          <p:nvPr/>
        </p:nvSpPr>
        <p:spPr>
          <a:xfrm>
            <a:off x="3314700" y="2667000"/>
            <a:ext cx="476250" cy="1"/>
          </a:xfrm>
          <a:prstGeom prst="line">
            <a:avLst/>
          </a:prstGeom>
          <a:noFill/>
          <a:ln w="19050">
            <a:solidFill>
              <a:srgbClr val="3B82F6"/>
            </a:solidFill>
            <a:tailEnd type="triangle" w="lg" len="lg"/>
          </a:ln>
        </p:spPr>
      </p:sp>
      <p:sp>
        <p:nvSpPr>
          <p:cNvPr id="12" name="Rectangle 12"/>
          <p:cNvSpPr/>
          <p:nvPr/>
        </p:nvSpPr>
        <p:spPr>
          <a:xfrm>
            <a:off x="3905250" y="17145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905250" y="1714500"/>
            <a:ext cx="24765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729661" y="1932622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📋 管理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92930" y="2366010"/>
            <a:ext cx="150114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@dnd-kit 拖拽排序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待读→在读→已读→归档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收藏夹组织管理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2248" y="3228499"/>
            <a:ext cx="19425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/api/bookmarks/reorder</a:t>
            </a:r>
          </a:p>
        </p:txBody>
      </p:sp>
      <p:sp>
        <p:nvSpPr>
          <p:cNvPr id="17" name="Line 17"/>
          <p:cNvSpPr/>
          <p:nvPr/>
        </p:nvSpPr>
        <p:spPr>
          <a:xfrm>
            <a:off x="6381750" y="3619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18" name="Line 18"/>
          <p:cNvSpPr/>
          <p:nvPr/>
        </p:nvSpPr>
        <p:spPr>
          <a:xfrm flipH="1">
            <a:off x="5810250" y="3905250"/>
            <a:ext cx="571500" cy="1"/>
          </a:xfrm>
          <a:prstGeom prst="line">
            <a:avLst/>
          </a:prstGeom>
          <a:noFill/>
          <a:ln w="19050">
            <a:solidFill>
              <a:srgbClr val="06B6D4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7048500" y="34290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048500" y="3429000"/>
            <a:ext cx="247650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872911" y="3647122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🔍 发现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50480" y="4080510"/>
            <a:ext cx="127254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全文搜索 + 防抖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跨领域随机发现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Jaccard 相关推荐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70555" y="4942999"/>
            <a:ext cx="103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/api/search</a:t>
            </a:r>
          </a:p>
        </p:txBody>
      </p:sp>
      <p:sp>
        <p:nvSpPr>
          <p:cNvPr id="24" name="Line 24"/>
          <p:cNvSpPr/>
          <p:nvPr/>
        </p:nvSpPr>
        <p:spPr>
          <a:xfrm flipH="1">
            <a:off x="6572250" y="4381500"/>
            <a:ext cx="476250" cy="1"/>
          </a:xfrm>
          <a:prstGeom prst="line">
            <a:avLst/>
          </a:prstGeom>
          <a:noFill/>
          <a:ln w="19050">
            <a:solidFill>
              <a:srgbClr val="8B5CF6"/>
            </a:solidFill>
            <a:tailEnd type="triangle" w="lg" len="lg"/>
          </a:ln>
        </p:spPr>
      </p:sp>
      <p:sp>
        <p:nvSpPr>
          <p:cNvPr id="25" name="Rectangle 25"/>
          <p:cNvSpPr/>
          <p:nvPr/>
        </p:nvSpPr>
        <p:spPr>
          <a:xfrm>
            <a:off x="3905250" y="342900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3905250" y="3429000"/>
            <a:ext cx="24765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729661" y="3647122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📊 洞察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8660" y="4080510"/>
            <a:ext cx="124968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仪表板状态分布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时间线历史回顾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每周周报对比分析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63059" y="4942999"/>
            <a:ext cx="960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/api/stats</a:t>
            </a:r>
          </a:p>
        </p:txBody>
      </p:sp>
      <p:sp>
        <p:nvSpPr>
          <p:cNvPr id="30" name="Ellipse 30"/>
          <p:cNvSpPr/>
          <p:nvPr/>
        </p:nvSpPr>
        <p:spPr>
          <a:xfrm>
            <a:off x="5715000" y="3619500"/>
            <a:ext cx="762000" cy="7620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009351" y="3928110"/>
            <a:ext cx="1732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AI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04648" y="5958364"/>
            <a:ext cx="2582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书签不再是终点，而是知识的起点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视 图 体 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7568" y="7753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十大功能视图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308538" y="1375410"/>
            <a:ext cx="35749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同一个书签库，十种视角 — 每种视角解决一种需求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857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857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28700" y="20097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📋 网格视图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4415" y="2306002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响应式卡片网格 + 右键菜单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1857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381500" y="1857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8200" y="2009775"/>
            <a:ext cx="11722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🖼️ 画廊视图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3915" y="2306002"/>
            <a:ext cx="2014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CSS Columns 瀑布流 + 悬停详情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01000" y="1857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001000" y="1857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67700" y="20097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🔍 发现视图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73415" y="2306002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跨领域发现 + 每日精选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28098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62000" y="2809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28700" y="2962275"/>
            <a:ext cx="11722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⚖️ 对比视图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3258502"/>
            <a:ext cx="1769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AI 多维对比 + 雷达图 + 矩阵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81500" y="28098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381500" y="2809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648200" y="29622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📚 学习路径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53915" y="3258502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结构化学习计划 + 进度追踪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28098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001000" y="2809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67700" y="296227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🔥 热度追踪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73415" y="3258502"/>
            <a:ext cx="21759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GitHub Star/Fork 趋势 Sparkline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3762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62000" y="3762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28700" y="3914775"/>
            <a:ext cx="8467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📊 仪表板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4415" y="421100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饼图+柱状图+词云+智能推荐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381500" y="3762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4381500" y="3762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648200" y="3914775"/>
            <a:ext cx="8467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🕐 时间线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53915" y="4211002"/>
            <a:ext cx="1727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按年月分组 + 交错入场动画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01000" y="3762375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8001000" y="3762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267700" y="3914775"/>
            <a:ext cx="636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📅 周报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3415" y="4211002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本周 vs 上周对比 + 趋势分析</a:t>
            </a:r>
          </a:p>
        </p:txBody>
      </p:sp>
      <p:sp>
        <p:nvSpPr>
          <p:cNvPr id="43" name="Rectangle 43"/>
          <p:cNvSpPr/>
          <p:nvPr/>
        </p:nvSpPr>
        <p:spPr>
          <a:xfrm>
            <a:off x="3429000" y="4857750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4288">
            <a:solidFill>
              <a:srgbClr val="3B82F6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3429000" y="4857750"/>
            <a:ext cx="5334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008937" y="5013008"/>
            <a:ext cx="81741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🧬 知识图谱 — react-force-graph-2d 力导向图 · 节点搜索 · Canvas 截图导出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14469" y="5334952"/>
            <a:ext cx="31630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暗色/亮色主题适配 · 时间轴动画 · 暂停/恢复模拟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 据 洞 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60497" y="7753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数据驱动的阅读洞察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400550" y="139446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不只是收藏，更是对自己知识消费的可视化理解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83269" y="2265998"/>
            <a:ext cx="11007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📊 仪表板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7781" y="2688431"/>
            <a:ext cx="2071688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Recharts 饼图 · 阅读状态分布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柱状图 · 内容类型分析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纯 CSS 词云 · 标签频率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智能推荐三件套</a:t>
            </a:r>
          </a:p>
          <a:p>
            <a:pPr algn="ctr">
              <a:lnSpc>
                <a:spcPts val="1800"/>
              </a:lnSpc>
              <a:spcBef>
                <a:spcPts val="450"/>
              </a:spcBef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继续深入 / 拓展视野 / 重温旧宝</a:t>
            </a:r>
          </a:p>
        </p:txBody>
      </p:sp>
      <p:sp>
        <p:nvSpPr>
          <p:cNvPr id="11" name="Ellipse 11"/>
          <p:cNvSpPr/>
          <p:nvPr/>
        </p:nvSpPr>
        <p:spPr>
          <a:xfrm>
            <a:off x="1857375" y="4000500"/>
            <a:ext cx="952500" cy="952500"/>
          </a:xfrm>
          <a:prstGeom prst="ellipse">
            <a:avLst/>
          </a:prstGeom>
          <a:noFill/>
          <a:ln w="76200">
            <a:solidFill>
              <a:srgbClr val="334155"/>
            </a:solidFill>
          </a:ln>
        </p:spPr>
      </p:sp>
      <p:sp>
        <p:nvSpPr>
          <p:cNvPr id="12" name="Arc 12"/>
          <p:cNvSpPr/>
          <p:nvPr/>
        </p:nvSpPr>
        <p:spPr>
          <a:xfrm>
            <a:off x="1819275" y="3962439"/>
            <a:ext cx="670867" cy="514311"/>
          </a:xfrm>
          <a:custGeom>
            <a:avLst/>
            <a:gdLst/>
            <a:ahLst/>
            <a:cxnLst/>
            <a:rect l="l" t="t" r="r" b="b"/>
            <a:pathLst>
              <a:path w="670867" h="514311">
                <a:moveTo>
                  <a:pt x="0" y="514311"/>
                </a:moveTo>
                <a:lnTo>
                  <a:pt x="2516" y="463500"/>
                </a:lnTo>
                <a:lnTo>
                  <a:pt x="10039" y="413187"/>
                </a:lnTo>
                <a:lnTo>
                  <a:pt x="22495" y="363862"/>
                </a:lnTo>
                <a:lnTo>
                  <a:pt x="39763" y="316010"/>
                </a:lnTo>
                <a:lnTo>
                  <a:pt x="61674" y="270097"/>
                </a:lnTo>
                <a:lnTo>
                  <a:pt x="88013" y="226574"/>
                </a:lnTo>
                <a:lnTo>
                  <a:pt x="118523" y="185865"/>
                </a:lnTo>
                <a:lnTo>
                  <a:pt x="152905" y="148369"/>
                </a:lnTo>
                <a:lnTo>
                  <a:pt x="190822" y="114454"/>
                </a:lnTo>
                <a:lnTo>
                  <a:pt x="231905" y="84449"/>
                </a:lnTo>
                <a:lnTo>
                  <a:pt x="275751" y="58650"/>
                </a:lnTo>
                <a:lnTo>
                  <a:pt x="321931" y="37309"/>
                </a:lnTo>
                <a:lnTo>
                  <a:pt x="369993" y="20634"/>
                </a:lnTo>
                <a:lnTo>
                  <a:pt x="419468" y="8788"/>
                </a:lnTo>
                <a:lnTo>
                  <a:pt x="469870" y="1888"/>
                </a:lnTo>
                <a:lnTo>
                  <a:pt x="520708" y="0"/>
                </a:lnTo>
                <a:lnTo>
                  <a:pt x="571484" y="3144"/>
                </a:lnTo>
                <a:lnTo>
                  <a:pt x="621700" y="11288"/>
                </a:lnTo>
                <a:lnTo>
                  <a:pt x="670867" y="24353"/>
                </a:lnTo>
                <a:lnTo>
                  <a:pt x="647679" y="96939"/>
                </a:lnTo>
                <a:lnTo>
                  <a:pt x="605797" y="85810"/>
                </a:lnTo>
                <a:lnTo>
                  <a:pt x="563019" y="78872"/>
                </a:lnTo>
                <a:lnTo>
                  <a:pt x="519766" y="76194"/>
                </a:lnTo>
                <a:lnTo>
                  <a:pt x="476460" y="77802"/>
                </a:lnTo>
                <a:lnTo>
                  <a:pt x="433524" y="83680"/>
                </a:lnTo>
                <a:lnTo>
                  <a:pt x="391379" y="93771"/>
                </a:lnTo>
                <a:lnTo>
                  <a:pt x="350437" y="107976"/>
                </a:lnTo>
                <a:lnTo>
                  <a:pt x="311099" y="126156"/>
                </a:lnTo>
                <a:lnTo>
                  <a:pt x="273749" y="148133"/>
                </a:lnTo>
                <a:lnTo>
                  <a:pt x="238752" y="173692"/>
                </a:lnTo>
                <a:lnTo>
                  <a:pt x="206452" y="202583"/>
                </a:lnTo>
                <a:lnTo>
                  <a:pt x="177164" y="234524"/>
                </a:lnTo>
                <a:lnTo>
                  <a:pt x="151174" y="269201"/>
                </a:lnTo>
                <a:lnTo>
                  <a:pt x="128737" y="306277"/>
                </a:lnTo>
                <a:lnTo>
                  <a:pt x="110072" y="345388"/>
                </a:lnTo>
                <a:lnTo>
                  <a:pt x="95363" y="386151"/>
                </a:lnTo>
                <a:lnTo>
                  <a:pt x="84752" y="428168"/>
                </a:lnTo>
                <a:lnTo>
                  <a:pt x="78343" y="471028"/>
                </a:lnTo>
                <a:lnTo>
                  <a:pt x="76200" y="514311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13" name="Arc 13"/>
          <p:cNvSpPr/>
          <p:nvPr/>
        </p:nvSpPr>
        <p:spPr>
          <a:xfrm>
            <a:off x="2364189" y="3963653"/>
            <a:ext cx="468923" cy="408529"/>
          </a:xfrm>
          <a:custGeom>
            <a:avLst/>
            <a:gdLst/>
            <a:ahLst/>
            <a:cxnLst/>
            <a:rect l="l" t="t" r="r" b="b"/>
            <a:pathLst>
              <a:path w="468923" h="408529">
                <a:moveTo>
                  <a:pt x="5315" y="0"/>
                </a:moveTo>
                <a:lnTo>
                  <a:pt x="45569" y="4413"/>
                </a:lnTo>
                <a:lnTo>
                  <a:pt x="85350" y="11979"/>
                </a:lnTo>
                <a:lnTo>
                  <a:pt x="124414" y="22650"/>
                </a:lnTo>
                <a:lnTo>
                  <a:pt x="162516" y="36362"/>
                </a:lnTo>
                <a:lnTo>
                  <a:pt x="199422" y="53029"/>
                </a:lnTo>
                <a:lnTo>
                  <a:pt x="234902" y="72547"/>
                </a:lnTo>
                <a:lnTo>
                  <a:pt x="268737" y="94797"/>
                </a:lnTo>
                <a:lnTo>
                  <a:pt x="300716" y="119639"/>
                </a:lnTo>
                <a:lnTo>
                  <a:pt x="330642" y="146919"/>
                </a:lnTo>
                <a:lnTo>
                  <a:pt x="358329" y="176470"/>
                </a:lnTo>
                <a:lnTo>
                  <a:pt x="383606" y="208107"/>
                </a:lnTo>
                <a:lnTo>
                  <a:pt x="406316" y="241634"/>
                </a:lnTo>
                <a:lnTo>
                  <a:pt x="426317" y="276844"/>
                </a:lnTo>
                <a:lnTo>
                  <a:pt x="443487" y="313519"/>
                </a:lnTo>
                <a:lnTo>
                  <a:pt x="457719" y="351430"/>
                </a:lnTo>
                <a:lnTo>
                  <a:pt x="468923" y="390344"/>
                </a:lnTo>
                <a:lnTo>
                  <a:pt x="394925" y="408529"/>
                </a:lnTo>
                <a:lnTo>
                  <a:pt x="385380" y="375381"/>
                </a:lnTo>
                <a:lnTo>
                  <a:pt x="373257" y="343086"/>
                </a:lnTo>
                <a:lnTo>
                  <a:pt x="358631" y="311845"/>
                </a:lnTo>
                <a:lnTo>
                  <a:pt x="341593" y="281851"/>
                </a:lnTo>
                <a:lnTo>
                  <a:pt x="322248" y="253290"/>
                </a:lnTo>
                <a:lnTo>
                  <a:pt x="300716" y="226340"/>
                </a:lnTo>
                <a:lnTo>
                  <a:pt x="277130" y="201168"/>
                </a:lnTo>
                <a:lnTo>
                  <a:pt x="251638" y="177929"/>
                </a:lnTo>
                <a:lnTo>
                  <a:pt x="224396" y="156767"/>
                </a:lnTo>
                <a:lnTo>
                  <a:pt x="195574" y="137814"/>
                </a:lnTo>
                <a:lnTo>
                  <a:pt x="165350" y="121187"/>
                </a:lnTo>
                <a:lnTo>
                  <a:pt x="133912" y="106990"/>
                </a:lnTo>
                <a:lnTo>
                  <a:pt x="101454" y="95309"/>
                </a:lnTo>
                <a:lnTo>
                  <a:pt x="68178" y="86218"/>
                </a:lnTo>
                <a:lnTo>
                  <a:pt x="34290" y="79773"/>
                </a:lnTo>
                <a:lnTo>
                  <a:pt x="0" y="76014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4" name="Arc 14"/>
          <p:cNvSpPr/>
          <p:nvPr/>
        </p:nvSpPr>
        <p:spPr>
          <a:xfrm>
            <a:off x="2736944" y="4275777"/>
            <a:ext cx="110981" cy="312503"/>
          </a:xfrm>
          <a:custGeom>
            <a:avLst/>
            <a:gdLst/>
            <a:ahLst/>
            <a:cxnLst/>
            <a:rect l="l" t="t" r="r" b="b"/>
            <a:pathLst>
              <a:path w="110981" h="312503">
                <a:moveTo>
                  <a:pt x="70142" y="0"/>
                </a:moveTo>
                <a:lnTo>
                  <a:pt x="77573" y="18493"/>
                </a:lnTo>
                <a:lnTo>
                  <a:pt x="84281" y="37260"/>
                </a:lnTo>
                <a:lnTo>
                  <a:pt x="90257" y="56272"/>
                </a:lnTo>
                <a:lnTo>
                  <a:pt x="95493" y="75502"/>
                </a:lnTo>
                <a:lnTo>
                  <a:pt x="99979" y="94921"/>
                </a:lnTo>
                <a:lnTo>
                  <a:pt x="103710" y="114498"/>
                </a:lnTo>
                <a:lnTo>
                  <a:pt x="106679" y="134206"/>
                </a:lnTo>
                <a:lnTo>
                  <a:pt x="108883" y="154013"/>
                </a:lnTo>
                <a:lnTo>
                  <a:pt x="110317" y="173891"/>
                </a:lnTo>
                <a:lnTo>
                  <a:pt x="110981" y="193810"/>
                </a:lnTo>
                <a:lnTo>
                  <a:pt x="110872" y="213740"/>
                </a:lnTo>
                <a:lnTo>
                  <a:pt x="109992" y="233650"/>
                </a:lnTo>
                <a:lnTo>
                  <a:pt x="108340" y="253511"/>
                </a:lnTo>
                <a:lnTo>
                  <a:pt x="105921" y="273294"/>
                </a:lnTo>
                <a:lnTo>
                  <a:pt x="102737" y="292967"/>
                </a:lnTo>
                <a:lnTo>
                  <a:pt x="98793" y="312503"/>
                </a:lnTo>
                <a:lnTo>
                  <a:pt x="24406" y="295980"/>
                </a:lnTo>
                <a:lnTo>
                  <a:pt x="27766" y="279339"/>
                </a:lnTo>
                <a:lnTo>
                  <a:pt x="30478" y="262579"/>
                </a:lnTo>
                <a:lnTo>
                  <a:pt x="32539" y="245728"/>
                </a:lnTo>
                <a:lnTo>
                  <a:pt x="33946" y="228809"/>
                </a:lnTo>
                <a:lnTo>
                  <a:pt x="34696" y="211848"/>
                </a:lnTo>
                <a:lnTo>
                  <a:pt x="34788" y="194871"/>
                </a:lnTo>
                <a:lnTo>
                  <a:pt x="34223" y="177903"/>
                </a:lnTo>
                <a:lnTo>
                  <a:pt x="33001" y="160970"/>
                </a:lnTo>
                <a:lnTo>
                  <a:pt x="31124" y="144097"/>
                </a:lnTo>
                <a:lnTo>
                  <a:pt x="28594" y="127309"/>
                </a:lnTo>
                <a:lnTo>
                  <a:pt x="25416" y="110632"/>
                </a:lnTo>
                <a:lnTo>
                  <a:pt x="21595" y="94091"/>
                </a:lnTo>
                <a:lnTo>
                  <a:pt x="17135" y="77710"/>
                </a:lnTo>
                <a:lnTo>
                  <a:pt x="12044" y="61514"/>
                </a:lnTo>
                <a:lnTo>
                  <a:pt x="6330" y="45527"/>
                </a:lnTo>
                <a:lnTo>
                  <a:pt x="0" y="29774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15" name="Arc 15"/>
          <p:cNvSpPr/>
          <p:nvPr/>
        </p:nvSpPr>
        <p:spPr>
          <a:xfrm>
            <a:off x="2690321" y="4537729"/>
            <a:ext cx="152648" cy="237720"/>
          </a:xfrm>
          <a:custGeom>
            <a:avLst/>
            <a:gdLst/>
            <a:ahLst/>
            <a:cxnLst/>
            <a:rect l="l" t="t" r="r" b="b"/>
            <a:pathLst>
              <a:path w="152648" h="237720">
                <a:moveTo>
                  <a:pt x="152648" y="10605"/>
                </a:moveTo>
                <a:lnTo>
                  <a:pt x="150272" y="25851"/>
                </a:lnTo>
                <a:lnTo>
                  <a:pt x="147439" y="41019"/>
                </a:lnTo>
                <a:lnTo>
                  <a:pt x="144153" y="56094"/>
                </a:lnTo>
                <a:lnTo>
                  <a:pt x="140416" y="71065"/>
                </a:lnTo>
                <a:lnTo>
                  <a:pt x="136232" y="85917"/>
                </a:lnTo>
                <a:lnTo>
                  <a:pt x="131604" y="100636"/>
                </a:lnTo>
                <a:lnTo>
                  <a:pt x="126536" y="115210"/>
                </a:lnTo>
                <a:lnTo>
                  <a:pt x="121034" y="129626"/>
                </a:lnTo>
                <a:lnTo>
                  <a:pt x="115102" y="143870"/>
                </a:lnTo>
                <a:lnTo>
                  <a:pt x="108745" y="157929"/>
                </a:lnTo>
                <a:lnTo>
                  <a:pt x="101969" y="171792"/>
                </a:lnTo>
                <a:lnTo>
                  <a:pt x="94781" y="185445"/>
                </a:lnTo>
                <a:lnTo>
                  <a:pt x="87186" y="198877"/>
                </a:lnTo>
                <a:lnTo>
                  <a:pt x="79192" y="212074"/>
                </a:lnTo>
                <a:lnTo>
                  <a:pt x="70805" y="225026"/>
                </a:lnTo>
                <a:lnTo>
                  <a:pt x="62034" y="237720"/>
                </a:lnTo>
                <a:lnTo>
                  <a:pt x="0" y="193469"/>
                </a:lnTo>
                <a:lnTo>
                  <a:pt x="7472" y="182655"/>
                </a:lnTo>
                <a:lnTo>
                  <a:pt x="14616" y="171622"/>
                </a:lnTo>
                <a:lnTo>
                  <a:pt x="21426" y="160379"/>
                </a:lnTo>
                <a:lnTo>
                  <a:pt x="27895" y="148938"/>
                </a:lnTo>
                <a:lnTo>
                  <a:pt x="34019" y="137307"/>
                </a:lnTo>
                <a:lnTo>
                  <a:pt x="39791" y="125499"/>
                </a:lnTo>
                <a:lnTo>
                  <a:pt x="45206" y="113522"/>
                </a:lnTo>
                <a:lnTo>
                  <a:pt x="50259" y="101388"/>
                </a:lnTo>
                <a:lnTo>
                  <a:pt x="54946" y="89108"/>
                </a:lnTo>
                <a:lnTo>
                  <a:pt x="59263" y="76693"/>
                </a:lnTo>
                <a:lnTo>
                  <a:pt x="63205" y="64154"/>
                </a:lnTo>
                <a:lnTo>
                  <a:pt x="66770" y="51503"/>
                </a:lnTo>
                <a:lnTo>
                  <a:pt x="69953" y="38750"/>
                </a:lnTo>
                <a:lnTo>
                  <a:pt x="72753" y="25908"/>
                </a:lnTo>
                <a:lnTo>
                  <a:pt x="75166" y="12987"/>
                </a:lnTo>
                <a:lnTo>
                  <a:pt x="7719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853184" y="5133499"/>
            <a:ext cx="960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/api/stats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545644" y="2265998"/>
            <a:ext cx="11007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🕐 时间线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38775" y="2688431"/>
            <a:ext cx="13144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按年月分组展示书签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可视化收藏时间分布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交错入场动画效果</a:t>
            </a:r>
          </a:p>
        </p:txBody>
      </p:sp>
      <p:sp>
        <p:nvSpPr>
          <p:cNvPr id="21" name="Line 21"/>
          <p:cNvSpPr/>
          <p:nvPr/>
        </p:nvSpPr>
        <p:spPr>
          <a:xfrm>
            <a:off x="4953000" y="36195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334155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4895850" y="356235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690336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2026-01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762500" y="3952875"/>
            <a:ext cx="381000" cy="152400"/>
          </a:xfrm>
          <a:prstGeom prst="roundRect">
            <a:avLst>
              <a:gd name="adj" fmla="val 18750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5467350" y="356235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261836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2026-03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334000" y="3952875"/>
            <a:ext cx="381000" cy="228600"/>
          </a:xfrm>
          <a:prstGeom prst="roundRect">
            <a:avLst>
              <a:gd name="adj" fmla="val 125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6038850" y="356235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833336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905500" y="3952875"/>
            <a:ext cx="381000" cy="304800"/>
          </a:xfrm>
          <a:prstGeom prst="roundRect">
            <a:avLst>
              <a:gd name="adj" fmla="val 9375"/>
            </a:avLst>
          </a:prstGeom>
          <a:solidFill>
            <a:srgbClr val="06B6D4">
              <a:alpha val="25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610350" y="3562350"/>
            <a:ext cx="114300" cy="114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404836" y="37523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2026-06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3952875"/>
            <a:ext cx="381000" cy="190500"/>
          </a:xfrm>
          <a:prstGeom prst="roundRect">
            <a:avLst>
              <a:gd name="adj" fmla="val 15000"/>
            </a:avLst>
          </a:prstGeom>
          <a:solidFill>
            <a:srgbClr val="06B6D4">
              <a:alpha val="1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9523" y="4704874"/>
            <a:ext cx="15329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/api/stats/timeline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96250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096250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444536" y="2265998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📅 周报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51144" y="2688431"/>
            <a:ext cx="141446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本周 vs 上周对比分析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状态分布统计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Top 标签排行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增长趋势可视化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572500" y="4000500"/>
            <a:ext cx="762000" cy="762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833009" y="41495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本周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78566" y="4313872"/>
            <a:ext cx="3498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23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873966" y="4614862"/>
            <a:ext cx="1590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↑ 5</a:t>
            </a:r>
          </a:p>
        </p:txBody>
      </p:sp>
      <p:sp>
        <p:nvSpPr>
          <p:cNvPr id="43" name="Rectangle 43"/>
          <p:cNvSpPr/>
          <p:nvPr/>
        </p:nvSpPr>
        <p:spPr>
          <a:xfrm>
            <a:off x="9620250" y="4000500"/>
            <a:ext cx="762000" cy="7620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880759" y="41495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上周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826316" y="4313872"/>
            <a:ext cx="3498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18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30903" y="51334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/api/stats/weekly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08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知 识 发 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7568" y="7753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深度知识发现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828478" y="1394460"/>
            <a:ext cx="45350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让书签之间产生联系 — 图谱关联、多维度对比、结构化学习路径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46752" y="2265998"/>
            <a:ext cx="13737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🧬 知识图谱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9941" y="2736056"/>
            <a:ext cx="1807369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react-force-graph-2d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力导向图展示关联网络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节点搜索与高亮筛选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Canvas 截图导出 PNG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时间轴滑块动画播放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暗色/亮色主题 Canvas 适配</a:t>
            </a:r>
          </a:p>
        </p:txBody>
      </p:sp>
      <p:sp>
        <p:nvSpPr>
          <p:cNvPr id="11" name="Ellipse 11"/>
          <p:cNvSpPr/>
          <p:nvPr/>
        </p:nvSpPr>
        <p:spPr>
          <a:xfrm>
            <a:off x="1733550" y="4495800"/>
            <a:ext cx="342900" cy="342900"/>
          </a:xfrm>
          <a:prstGeom prst="ellipse">
            <a:avLst/>
          </a:prstGeom>
          <a:solidFill>
            <a:srgbClr val="3B82F6">
              <a:alpha val="30000"/>
            </a:srgbClr>
          </a:solidFill>
          <a:ln w="9525">
            <a:solidFill>
              <a:srgbClr val="3B82F6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2343150" y="4343400"/>
            <a:ext cx="266700" cy="266700"/>
          </a:xfrm>
          <a:prstGeom prst="ellipse">
            <a:avLst/>
          </a:prstGeom>
          <a:solidFill>
            <a:srgbClr val="06B6D4">
              <a:alpha val="30000"/>
            </a:srgbClr>
          </a:solidFill>
          <a:ln w="9525">
            <a:solidFill>
              <a:srgbClr val="06B6D4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2038350" y="4800600"/>
            <a:ext cx="304800" cy="304800"/>
          </a:xfrm>
          <a:prstGeom prst="ellipse">
            <a:avLst/>
          </a:prstGeom>
          <a:solidFill>
            <a:srgbClr val="8B5CF6">
              <a:alpha val="30000"/>
            </a:srgbClr>
          </a:solidFill>
          <a:ln w="9525">
            <a:solidFill>
              <a:srgbClr val="8B5CF6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2647950" y="4743450"/>
            <a:ext cx="228600" cy="228600"/>
          </a:xfrm>
          <a:prstGeom prst="ellipse">
            <a:avLst/>
          </a:prstGeom>
          <a:solidFill>
            <a:srgbClr val="10B981">
              <a:alpha val="30000"/>
            </a:srgbClr>
          </a:solidFill>
          <a:ln w="9525">
            <a:solidFill>
              <a:srgbClr val="10B981"/>
            </a:solidFill>
          </a:ln>
        </p:spPr>
      </p:sp>
      <p:sp>
        <p:nvSpPr>
          <p:cNvPr id="15" name="Line 15"/>
          <p:cNvSpPr/>
          <p:nvPr/>
        </p:nvSpPr>
        <p:spPr>
          <a:xfrm>
            <a:off x="1905000" y="447675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0" y="190500"/>
                </a:moveTo>
                <a:lnTo>
                  <a:pt x="5715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6" name="Line 16"/>
          <p:cNvSpPr/>
          <p:nvPr/>
        </p:nvSpPr>
        <p:spPr>
          <a:xfrm>
            <a:off x="1905000" y="4667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28575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7" name="Line 17"/>
          <p:cNvSpPr/>
          <p:nvPr/>
        </p:nvSpPr>
        <p:spPr>
          <a:xfrm>
            <a:off x="2476500" y="447675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0"/>
                </a:moveTo>
                <a:lnTo>
                  <a:pt x="285750" y="38100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8" name="Line 18"/>
          <p:cNvSpPr/>
          <p:nvPr/>
        </p:nvSpPr>
        <p:spPr>
          <a:xfrm>
            <a:off x="2190750" y="4857750"/>
            <a:ext cx="571500" cy="95250"/>
          </a:xfrm>
          <a:custGeom>
            <a:avLst/>
            <a:gdLst/>
            <a:ahLst/>
            <a:cxnLst/>
            <a:rect l="l" t="t" r="r" b="b"/>
            <a:pathLst>
              <a:path w="571500" h="95250">
                <a:moveTo>
                  <a:pt x="0" y="95250"/>
                </a:moveTo>
                <a:lnTo>
                  <a:pt x="5715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33875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334043" y="2265998"/>
            <a:ext cx="152391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⚖️ 横向对比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52975" y="2736056"/>
            <a:ext cx="2686050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选择 2-5 篇书签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多维对比分析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雷达图 5 维度评分</a:t>
            </a:r>
          </a:p>
          <a:p>
            <a:pPr algn="ctr">
              <a:lnSpc>
                <a:spcPts val="1800"/>
              </a:lnSpc>
              <a:spcBef>
                <a:spcPts val="450"/>
              </a:spcBef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深度 · 可读性 · 权威性 · 时效性 · 实用性</a:t>
            </a:r>
          </a:p>
          <a:p>
            <a:pPr algn="ctr">
              <a:lnSpc>
                <a:spcPts val="1800"/>
              </a:lnSpc>
              <a:spcBef>
                <a:spcPts val="450"/>
              </a:spcBef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矩阵表格 + AI 综合评论</a:t>
            </a:r>
          </a:p>
        </p:txBody>
      </p:sp>
      <p:sp>
        <p:nvSpPr>
          <p:cNvPr id="23" name="Polygon 23"/>
          <p:cNvSpPr/>
          <p:nvPr/>
        </p:nvSpPr>
        <p:spPr>
          <a:xfrm>
            <a:off x="5810250" y="4095750"/>
            <a:ext cx="571500" cy="666750"/>
          </a:xfrm>
          <a:custGeom>
            <a:avLst/>
            <a:gdLst/>
            <a:ahLst/>
            <a:cxnLst/>
            <a:rect l="l" t="t" r="r" b="b"/>
            <a:pathLst>
              <a:path w="571500" h="666750">
                <a:moveTo>
                  <a:pt x="285750" y="0"/>
                </a:moveTo>
                <a:lnTo>
                  <a:pt x="571500" y="285750"/>
                </a:lnTo>
                <a:lnTo>
                  <a:pt x="476250" y="666750"/>
                </a:lnTo>
                <a:lnTo>
                  <a:pt x="95250" y="666750"/>
                </a:lnTo>
                <a:lnTo>
                  <a:pt x="0" y="285750"/>
                </a:lnTo>
                <a:close/>
              </a:path>
            </a:pathLst>
          </a:custGeom>
          <a:solidFill>
            <a:srgbClr val="06B6D4">
              <a:alpha val="10000"/>
            </a:srgbClr>
          </a:solidFill>
          <a:ln w="14288">
            <a:solidFill>
              <a:srgbClr val="06B6D4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5905500" y="4191000"/>
            <a:ext cx="381000" cy="476250"/>
          </a:xfrm>
          <a:custGeom>
            <a:avLst/>
            <a:gdLst/>
            <a:ahLst/>
            <a:cxnLst/>
            <a:rect l="l" t="t" r="r" b="b"/>
            <a:pathLst>
              <a:path w="381000" h="476250">
                <a:moveTo>
                  <a:pt x="190500" y="0"/>
                </a:moveTo>
                <a:lnTo>
                  <a:pt x="381000" y="209550"/>
                </a:lnTo>
                <a:lnTo>
                  <a:pt x="314325" y="476250"/>
                </a:lnTo>
                <a:lnTo>
                  <a:pt x="66675" y="476250"/>
                </a:lnTo>
                <a:lnTo>
                  <a:pt x="0" y="20955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 w="9525">
            <a:solidFill>
              <a:srgbClr val="06B6D4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55526" y="5133499"/>
            <a:ext cx="14809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/api/comparisons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2000250"/>
            <a:ext cx="3524250" cy="361950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200025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171502" y="2265998"/>
            <a:ext cx="13737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📚 学习路径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33259" y="2736056"/>
            <a:ext cx="1850231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创建结构化学习计划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书签组织成渐进路线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阶段 + 难度 + 预估时间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完成状态追踪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 xml:space="preserve">学习笔记 (takeaway/note) </a:t>
            </a:r>
            <a:r>
              <a:rPr lang="zh-CN" sz="112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AI 分析路径合理性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858250" y="4572000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8B5CF6">
              <a:alpha val="1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238309" y="4647724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入门 · 基础概念</a:t>
            </a:r>
          </a:p>
        </p:txBody>
      </p:sp>
      <p:sp>
        <p:nvSpPr>
          <p:cNvPr id="32" name="Line 32"/>
          <p:cNvSpPr/>
          <p:nvPr/>
        </p:nvSpPr>
        <p:spPr>
          <a:xfrm>
            <a:off x="9715500" y="48387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8858250" y="4953000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8B5CF6">
              <a:alpha val="15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238309" y="5028724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进阶 · 核心原理</a:t>
            </a:r>
          </a:p>
        </p:txBody>
      </p:sp>
      <p:sp>
        <p:nvSpPr>
          <p:cNvPr id="35" name="Line 35"/>
          <p:cNvSpPr/>
          <p:nvPr/>
        </p:nvSpPr>
        <p:spPr>
          <a:xfrm>
            <a:off x="9715500" y="52197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858250" y="5334000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183052" y="540972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✓ 实战 · 项目应用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09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入 口 扩 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38545" y="7753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无处不在的入口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988498" y="1394460"/>
            <a:ext cx="42150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不离开浏览器就能完成一切 — 右键收藏、快捷键、语音搜索</a:t>
            </a:r>
          </a:p>
        </p:txBody>
      </p:sp>
      <p:sp>
        <p:nvSpPr>
          <p:cNvPr id="7" name="Line 7"/>
          <p:cNvSpPr/>
          <p:nvPr/>
        </p:nvSpPr>
        <p:spPr>
          <a:xfrm>
            <a:off x="6096000" y="1762125"/>
            <a:ext cx="9525" cy="4429125"/>
          </a:xfrm>
          <a:custGeom>
            <a:avLst/>
            <a:gdLst/>
            <a:ahLst/>
            <a:cxnLst/>
            <a:rect l="l" t="t" r="r" b="b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065536" y="1965008"/>
            <a:ext cx="13934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🧩 浏览器扩展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428875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2428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5355" y="2597468"/>
            <a:ext cx="24537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后台服务 (Service Worker)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2878931"/>
            <a:ext cx="38915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右键菜单收藏 · Ctrl+Shift+S 静默收藏 · Badge 状态提示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381375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33813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5355" y="3549968"/>
            <a:ext cx="1196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弹窗 (Popup)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3831431"/>
            <a:ext cx="32689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完整收藏流程 · 去重检测 · AI 分类 · 已收藏检测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333875"/>
            <a:ext cx="53340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433387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5355" y="4502468"/>
            <a:ext cx="17638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侧边栏 (Side Panel)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212" y="4783931"/>
            <a:ext cx="39440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收藏状态 · 最近列表 · 快速搜索 (300ms 防抖) · 切换状态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53300" y="1965008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🎤 语音搜索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6670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8572500" y="3048000"/>
            <a:ext cx="762000" cy="76200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686800" y="3162300"/>
            <a:ext cx="533400" cy="533400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811530" y="3317558"/>
            <a:ext cx="2839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🎙️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38883" y="3910489"/>
            <a:ext cx="28292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Web Speech API · 中文识别 (zh-CN)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77830" y="4212431"/>
            <a:ext cx="21513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实时识别展示 · 脉冲录音指示器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11509" y="4469606"/>
            <a:ext cx="32839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错误处理: not-allowed / no-speech / aborted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14072" y="473630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完成后自动填入搜索框并执行搜索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45208" y="6069806"/>
            <a:ext cx="41015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基于 WXT Framework 构建 · 支持 Chrome / Firefox / Edge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0785" y="521018"/>
            <a:ext cx="11504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安 全 与 开 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16592" y="775335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安全与开放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016502" y="1394460"/>
            <a:ext cx="41589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双重认证保障安全，API Key 开放集成 — 兼顾安全与可扩展</a:t>
            </a:r>
          </a:p>
        </p:txBody>
      </p:sp>
      <p:sp>
        <p:nvSpPr>
          <p:cNvPr id="7" name="Line 7"/>
          <p:cNvSpPr/>
          <p:nvPr/>
        </p:nvSpPr>
        <p:spPr>
          <a:xfrm>
            <a:off x="6096000" y="1762125"/>
            <a:ext cx="9525" cy="4429125"/>
          </a:xfrm>
          <a:custGeom>
            <a:avLst/>
            <a:gdLst/>
            <a:ahLst/>
            <a:cxnLst/>
            <a:rect l="l" t="t" r="r" b="b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181050" y="1965008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🔐 认证体系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476500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2476500"/>
            <a:ext cx="38100" cy="9525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33450" y="2647950"/>
            <a:ext cx="18443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GitHub OAuth 登录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212" y="2974181"/>
            <a:ext cx="39862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NextAuth v5 · prompt: "consent" 强制授权 → 支持账号切换</a:t>
            </a: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Callback: /api/auth/callback/github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619500"/>
            <a:ext cx="5334000" cy="104775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361950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3450" y="3790950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双重认证中间件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4117181"/>
            <a:ext cx="273605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优先 Session 认证 (同源 Web 应用)</a:t>
            </a: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回退 API Key 认证 (SHA-256 哈希比对)</a:t>
            </a: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自动更新 lastUsedAt (异步，不阻塞请求)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857750"/>
            <a:ext cx="5334000" cy="762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48577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3450" y="5010150"/>
            <a:ext cx="1235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CORS 中间件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212" y="5307806"/>
            <a:ext cx="56167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localhost · chrome-extension:// · moz-extension:// · NEXT_PUBLIC_APP_URL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2701" y="1965008"/>
            <a:ext cx="15435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🔑 API Key 管理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476500"/>
            <a:ext cx="5334000" cy="314325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50355" y="2759392"/>
            <a:ext cx="23592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mb_xxxxxxxx...xxxxxxxx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3212" y="3069431"/>
            <a:ext cx="19338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mb_ 前缀 · 96 字符随机密钥</a:t>
            </a:r>
          </a:p>
        </p:txBody>
      </p:sp>
      <p:sp>
        <p:nvSpPr>
          <p:cNvPr id="25" name="Line 25"/>
          <p:cNvSpPr/>
          <p:nvPr/>
        </p:nvSpPr>
        <p:spPr>
          <a:xfrm>
            <a:off x="6667500" y="338137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51308" y="3577114"/>
            <a:ext cx="3206115" cy="1059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✓ 仅生成时完整显示一次</a:t>
            </a:r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✓ 显示/隐藏切换 + 一键复制</a:t>
            </a:r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 xml:space="preserve">✓ 吊销 (删除) Key </a:t>
            </a:r>
            <a:r>
              <a:rPr lang="zh-CN" sz="12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✓ 已有 Key 列表 (名称/创建时间/上次使用)</a:t>
            </a:r>
          </a:p>
        </p:txBody>
      </p:sp>
      <p:sp>
        <p:nvSpPr>
          <p:cNvPr id="27" name="Line 27"/>
          <p:cNvSpPr/>
          <p:nvPr/>
        </p:nvSpPr>
        <p:spPr>
          <a:xfrm>
            <a:off x="6667500" y="4857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53212" y="5022056"/>
            <a:ext cx="267176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 xml:space="preserve">API: GET/POST /api/settings/api-keys </a:t>
            </a:r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DELETE /api/settings/api-keys/[id]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76512" y="6069806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所有 API Key 经 SHA-256 哈希存储，原文不可逆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后 台 管 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05616" y="7753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管理面板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988498" y="1394460"/>
            <a:ext cx="42150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多用户管理、书签审查 — 为团队和实例管理员提供完整控制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000250"/>
            <a:ext cx="5143500" cy="361950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00025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46877" y="2313622"/>
            <a:ext cx="13737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👥 用户管理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2809875"/>
            <a:ext cx="4381500" cy="3429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15415" y="29251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用户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34665" y="29251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邮箱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9165" y="29251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角色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43000" y="3190875"/>
            <a:ext cx="4381500" cy="28575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416368" y="327612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user_01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36570" y="3284220"/>
            <a:ext cx="1030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dev@example.com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51070" y="3284220"/>
            <a:ext cx="346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admin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43000" y="3514725"/>
            <a:ext cx="4381500" cy="28575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416368" y="359997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user_02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36570" y="360807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pm@example.com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51070" y="3608070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user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143000" y="3838575"/>
            <a:ext cx="4381500" cy="28575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416368" y="3923824"/>
            <a:ext cx="5253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user_03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36570" y="3931920"/>
            <a:ext cx="13310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designer@example.com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1070" y="3931920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user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46828" y="4450556"/>
            <a:ext cx="2173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用户列表 + 角色分配 + 书签查看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42033" y="4847749"/>
            <a:ext cx="1383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/api/admin/users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08966" y="5085874"/>
            <a:ext cx="24495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GET /api/admin/users/[id]/bookmarks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2000250"/>
            <a:ext cx="5143500" cy="361950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200025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171377" y="2313622"/>
            <a:ext cx="13737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📋 数据管理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762750" y="280987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998529" y="2868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1,247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78040" y="32365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总计书签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286750" y="280987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684250" y="2868930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892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22055" y="323659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已读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810750" y="280987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208250" y="2868930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203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46055" y="3236595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待读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762750" y="366712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241110" y="37261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5CF6"/>
                </a:solidFill>
                <a:latin typeface="Consolas"/>
                <a:ea typeface="Microsoft YaHei"/>
                <a:cs typeface="Consolas"/>
              </a:rPr>
              <a:t>89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38048" y="40938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收藏夹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286750" y="366712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684250" y="3726180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6B6D4"/>
                </a:solidFill>
                <a:latin typeface="Consolas"/>
                <a:ea typeface="Microsoft YaHei"/>
                <a:cs typeface="Consolas"/>
              </a:rPr>
              <a:t>347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702040" y="40938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标签种类</a:t>
            </a:r>
          </a:p>
        </p:txBody>
      </p:sp>
      <p:sp>
        <p:nvSpPr>
          <p:cNvPr id="47" name="Rectangle 47"/>
          <p:cNvSpPr/>
          <p:nvPr/>
        </p:nvSpPr>
        <p:spPr>
          <a:xfrm>
            <a:off x="9810750" y="3667125"/>
            <a:ext cx="1333500" cy="66675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0289110" y="37261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56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86047" y="40938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用户数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25928" y="4688681"/>
            <a:ext cx="28646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1800"/>
              </a:lnSpc>
            </a:pP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书签导出 JSON · 统计概览</a:t>
            </a:r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含 URL / 标题 / 描述 / 标签 / 状态 / AI 摘要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37800" y="521018"/>
            <a:ext cx="916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架 构 亮 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05616" y="7753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1200150"/>
            <a:ext cx="152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880610" y="139446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不止是功能多，架构设计同样讲究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000250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00025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69670" y="2250758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⚡ 乐观 UI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5385" y="2632710"/>
            <a:ext cx="2514600" cy="739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@dnd-kit 拖拽即时反馈，乐观更新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分类重排 / 书签排序 / 学习步骤拖拽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请求失败自动回滚，不影响用户体验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514249"/>
            <a:ext cx="14159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/api/**/reorder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2000250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200025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94170" y="2250758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6B6D4"/>
                </a:solidFill>
                <a:latin typeface="Arial"/>
                <a:ea typeface="Microsoft YaHei"/>
                <a:cs typeface="Arial"/>
              </a:rPr>
              <a:t>🎨 动画系统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99885" y="2632710"/>
            <a:ext cx="3398520" cy="739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motion (Framer Motion 12.x) 全驱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卡片展开动画：getBoundingClientRect 精确定位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时间线交错入场、侧边栏 Balatro 风格动量滚动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02742" y="35142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useMotionValue + useSpring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4191000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419100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69670" y="4441508"/>
            <a:ext cx="15551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🌐 CORS 中间件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5385" y="4823460"/>
            <a:ext cx="3931920" cy="739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浏览器扩展跨域请求统一支持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OPTIONS 预检 · Access-Control-Max-Age 缓存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多源：localhost / chrome-extension / moz-extension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8242" y="5704999"/>
            <a:ext cx="19425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middleware.ts · CORS headers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4191000"/>
            <a:ext cx="5143500" cy="190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419100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94170" y="4441508"/>
            <a:ext cx="11624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🔊 细节打磨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9885" y="4823460"/>
            <a:ext cx="3512820" cy="739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Web Audio API 拖拽音效反馈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桌面固定侧边栏 / 移动端抽屉式（backdrop 模糊）</a:t>
            </a:r>
            <a:r>
              <a:rPr lang="zh-CN" sz="12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深色/浅色/跟随系统 三种主题模式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02742" y="5704999"/>
            <a:ext cx="18124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next-themes · Web Audio API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>
                  <a:alpha val="8000"/>
                </a:srgbClr>
              </a:gs>
              <a:gs pos="100000">
                <a:srgbClr val="0F17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945817" y="1659255"/>
            <a:ext cx="430036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开始使用 MarkBox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2286000"/>
            <a:ext cx="1905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50000">
                <a:srgbClr val="06B6D4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776662" y="279082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开源免费，一行命令启动，让书签成为你的第二大脑</a:t>
            </a:r>
          </a:p>
        </p:txBody>
      </p:sp>
      <p:sp>
        <p:nvSpPr>
          <p:cNvPr id="7" name="Rectangle 7"/>
          <p:cNvSpPr/>
          <p:nvPr/>
        </p:nvSpPr>
        <p:spPr>
          <a:xfrm>
            <a:off x="1714500" y="3429000"/>
            <a:ext cx="8763000" cy="161925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714500" y="3429000"/>
            <a:ext cx="876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50000">
                <a:srgbClr val="06B6D4"/>
              </a:gs>
              <a:gs pos="100000">
                <a:srgbClr val="8B5CF6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079308" y="3719989"/>
            <a:ext cx="4817269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27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 xml:space="preserve">$ git clone https://github.com/KaWaIiMT/Web_Bookmark.git </a:t>
            </a:r>
            <a:r>
              <a:rPr lang="zh-CN" sz="127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 xml:space="preserve">$ cd Web_Bookmark </a:t>
            </a:r>
            <a:r>
              <a:rPr lang="zh-CN" sz="127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$ npm install &amp;&amp; npx prisma db push &amp;&amp; npm run dev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1212" y="4688681"/>
            <a:ext cx="4484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配置 .env.local 中的 GitHub OAuth + DeepSeek API Key 即可使用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5381625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838094" y="5512118"/>
            <a:ext cx="6108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⭐ Star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5381625"/>
            <a:ext cx="1524000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54833" y="5512118"/>
            <a:ext cx="11873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🚀 Contribute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1400" y="6125528"/>
            <a:ext cx="42692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Next.js 16 · React 19 · Prisma 7 · DeepSeek V4 · Tailwind CSS 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2026-06-16T07:06:23Z</dcterms:created>
  <dcterms:modified xsi:type="dcterms:W3CDTF">2026-06-16T07:06:23Z</dcterms:modified>
  <cp:category/>
  <cp:contentStatus/>
</cp:coreProperties>
</file>