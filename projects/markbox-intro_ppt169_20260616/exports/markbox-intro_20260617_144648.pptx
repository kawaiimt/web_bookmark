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 MarkBox 项目路演。MarkBox 是一款 AI 驱动的智能书签管理器，它解决的问题很简单却深刻：在信息过载的时代，如何让每一个你收藏的链接，真正变成属于你的知识。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来看一个大家都感同身受的困境。收藏从未停止，但整理从未开始。五百多个链接堆在收藏夹里，想找的永远找不到；看到好文章随手就存，存完就再也想不起来看；更重要的是，这些知识散落在各个角落，彼此孤立，永远无法形成体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MarkBox 给出的答案非常直接。你只需要粘贴一个链接，剩下的全部交给 AI。从自动提取元数据，到智能生成标签、分类和摘要，再到多个视图帮你发现关联和洞察，整个过程三步闭环：收藏、理解、发现。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来看一下 MarkBox 的技术基座。全栈 TypeScript，Next.js 十六和 React 十九点二作为全栈框架，Prisma 七点八加上 SQLite 负责数据持久化，AI 引擎用的是 DeepSeek V4 Flash，前端则是 Tailwind CSS 四、shadcn 和 motion 驱动的动画系统。整个技术栈现代、轻量、高效。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MarkBox 的首页仪表板。左侧是分类导航侧边栏，中间是统计卡片和书签概览，顶部可以随时切换十种不同的功能视图。一个页面就能让你对自己的知识库有全面的感知。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添加书签的体验经过了精心打磨。粘贴一个 URL，系统会自动抓取页面标题、封面图和元数据，然后 AI 会立刻生成标签、分类建议和中文摘要。你可以在预览卡片上确认或修改这些 AI 生成的内容，然后一键入库。整个过程三秒之内完成。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书签管理不只是列个清单那么简单。MarkBox 支持 dnd-kit 驱动的拖拽排序，配合乐观 UI 更新，拖拽反馈即时且流畅。每个书签都有四态生命周期：待读、在读、已读、归档，一键切换。分类和收藏夹支持右键菜单和层级树结构，完全自由地组织你的知识。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不同来源的内容应该有不同形态的展示。MarkBox 为四种内容类型设计了四种差异化的卡片：视频内容用横向大卡片展示封面和 UP 主信息，文章是纵向卡片配头图，代码仓库是紧凑卡片加语言色条，普通网页则是简约卡片带 favicon 和描述片段。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是 MarkBox 的灵魂。三项核心 AI 能力让每一个书签从"一个链接"变成"一份结构化知识"。自动标签，AI 生成两到五个精准中文标签；智能分类，自动建议层级分类路径；AI 摘要，两到三句中文摘要让你无需打开原链接就能快速回顾内容。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自动标签功能非常实用。DeepSeek V4 Flash 分析书签内容后自动生成精准的中文标签，用户也可以手动增删改。标签会以彩色徽章的形式展示在卡片上，在仪表板中还有标签词云，让知识分布一目了然。更有标签共现推荐功能，基于 Jaccard 相似度算法，毫秒级就能找到关联标签。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智能分类解决的是知识组织的问题。AI 基于内容语义自动推断一个层级路径，比如"技术学习、前端、React"。分类树是自引用的父子关系，可以无限嵌套。侧边栏点击分类就能过滤书签，配合 dnd-kit 拖拽重排，整理知识的效率非常高。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摘要让回顾书签变得极其高效。每篇书签入库时，AI 会自动生成两到三句精炼的中文摘要，卡片内嵌展示，点击可以展开完整文本。摘要文本同时纳入全文搜索索引和 Embedding 向量系统，这让语义搜索和智能推荐的效果显著提升。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MarkBox 最具特色的设计：同一个书签库，十种视角。网格视图适合快速浏览，画廊视图用瀑布流展示图片型书签，发现页有三种模式帮你探索新内容。还有仪表板做数据统计、时间线看收藏历史、横向对比做多维度分析、学习路径做结构化学习计划、周报看每周阅读变化、知识图谱展示关联网络，以及活动日志记录所有操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仪表板是数据驱动的阅读洞察中心。Recharts 渲染的饼图展示阅读状态分布，柱状图展示内容类型比例，纯 CSS 的标签词云显示标签频率。更有三层智能推荐体系：继续深入当前领域、拓展到新的边界、重温被遗忘的旧藏，分别由标签共现算法和 Embedding 语义精排驱动。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时间线和周报给你时间维度的洞察。时间线视图按月分组、垂直布局，配合 motion 的交错入场动画，翻看自己的收藏历史非常有仪式感。周报则提供本周和上周的数据对比，包括状态分布、热门标签和增长趋势，让你清楚看到自己的知识消费轨迹。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知识图谱是 MarkBox 最具视觉冲击力的功能。力导向图展示书签、标签和分类之间的关联网络。三层交互从标签总览到节点展开再到详情抽屉，层层深入。还有时间轴播放功能，可以以一倍、两倍或五倍速度回放知识网络的生长过程，并且支持截图导出高清 PNG。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横向对比让你同时审视两到五篇书签。DeepSeek V4 Flash 会从五个维度进行深度分析，结果以雷达图和矩阵表格的形式呈现。矩阵中的差异会被红黄标记高亮，AI 还会给出总结评语。对比结果可以导出为 Markdown，方便分享和存档。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学习路径把散落的书签编排成结构化的学习计划。你可以创建路径、拖拽编排书签顺序、标注难度和阶段。每个节点还可以添加微型笔记，记录收获和疑问。AI 可以分析路径的合理性、检测知识缺口，甚至帮你生成学习路径的骨架。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发现页让好书签自己找到你。三种发现模式：跨领域探索带你跳出舒适区，最新收录让你不遗漏新内容，每日精选推荐值得回顾的旧藏。背后的推荐体系分三层：标签共现做快速关联、Embedding 向量做语义精排、Dashboard 做个性化推荐。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浏览器扩展让收藏变得无处不在。在任意网页上右键就能一键保存到 MarkBox。Ctrl+Shift+S 快捷键支持静默收藏，不中断你的浏览。弹窗模式提供完整的收藏流程，包括去重检测和 AI 分类建议。侧边栏模式让你在当前页面就能浏览和搜索书签。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语音搜索让找书签像说话一样自然。基于浏览器原生的 Web Speech API，无需额外权限，原生支持中文。边说边显示识别文字，语音结束后自动填入搜索框。麦克风按钮有脉冲动画指示器，录音状态一目了然。结合语义搜索，说一句"上次那个讲 React hooks 的视频"就能找到对应书签。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MarkBox 支持公开分享和协作。你可以把收藏夹设为公开，生成分享链接发送给朋友；也可以生成单条书签的分享卡片。CORS 跨域中间件让浏览器扩展、本地开发环境和自定义域名都能统一访问。同时，桌面固定侧边栏和移动端抽屉式导航确保了各种设备上的体验。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安全是基础设施。MarkBox 采用 GitHub OAuth 作为主要登录方式，基于 NextAuth 版本五。认证中间件采用双重策略：Session 优先，API Key 回退。API Key 以 mb_ 前缀的九十六字符随机密钥生成，仅首次生成时完整显示一次，存储时使用 SHA-256 哈希，明文永远不会落盘。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管理面板为团队和实例管理员提供完整的控制能力。你可以查看所有注册用户、分配管理员和普通用户角色、以管理员视角浏览任意用户的书签数据。还提供数据库统计总览卡片，支持一键导出书签数据为 JSON 格式，方便备份和迁移。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MarkBox 完全开源，基于 MIT 协议。克隆仓库、安装依赖、推送数据库、启动开发服务器，就这三步，一行命令就能跑起来。三十六条 API 端点、二十八个组件、十种功能视图，全部在 GitHub 上等你来探索。欢迎大家 Star 和 Contribute。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468f813a2576cd1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2a254efe64c910f.png"/>
  <Relationship Id="rId3" Type="http://schemas.openxmlformats.org/officeDocument/2006/relationships/image" Target="../media/image_fec1f249f1d6af16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d57bd0cacc2ad1c.png"/>
  <Relationship Id="rId3" Type="http://schemas.openxmlformats.org/officeDocument/2006/relationships/image" Target="../media/image_309d81b9aee0013c.png"/>
  <Relationship Id="rId4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50000">
                  <a:srgbClr val="D4A574">
                    <a:alpha val="1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096250" y="-666750"/>
            <a:ext cx="3810000" cy="3810000"/>
            <a:chOff x="8096250" y="-666750"/>
            <a:chExt cx="3810000" cy="3810000"/>
          </a:xfrm>
        </p:grpSpPr>
        <p:sp>
          <p:nvSpPr>
            <p:cNvPr id="5" name="Ellipse 5"/>
            <p:cNvSpPr/>
            <p:nvPr/>
          </p:nvSpPr>
          <p:spPr>
            <a:xfrm>
              <a:off x="8096250" y="-666750"/>
              <a:ext cx="3810000" cy="3810000"/>
            </a:xfrm>
            <a:prstGeom prst="ellipse">
              <a:avLst/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763000" y="0"/>
              <a:ext cx="2476500" cy="2476500"/>
            </a:xfrm>
            <a:prstGeom prst="ellipse">
              <a:avLst/>
            </a:prstGeom>
            <a:noFill/>
            <a:ln w="9525">
              <a:solidFill>
                <a:srgbClr val="C9866B">
                  <a:alpha val="10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382125" y="619125"/>
              <a:ext cx="1238250" cy="1238250"/>
            </a:xfrm>
            <a:prstGeom prst="ellipse">
              <a:avLst/>
            </a:prstGeom>
            <a:noFill/>
            <a:ln w="4762">
              <a:solidFill>
                <a:srgbClr val="D4A574">
                  <a:alpha val="6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2000" y="6191250"/>
            <a:ext cx="2095500" cy="104775"/>
            <a:chOff x="762000" y="6191250"/>
            <a:chExt cx="2095500" cy="104775"/>
          </a:xfrm>
        </p:grpSpPr>
        <p:sp>
          <p:nvSpPr>
            <p:cNvPr id="9" name="Line 9"/>
            <p:cNvSpPr/>
            <p:nvPr/>
          </p:nvSpPr>
          <p:spPr>
            <a:xfrm>
              <a:off x="762000" y="61912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4762">
              <a:solidFill>
                <a:srgbClr val="C9866B">
                  <a:alpha val="14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62000" y="62865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4762">
              <a:solidFill>
                <a:srgbClr val="D4A574">
                  <a:alpha val="8000"/>
                </a:srgb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143375" y="2369820"/>
            <a:ext cx="3905250" cy="1097280"/>
            <a:chOff x="4143375" y="2369820"/>
            <a:chExt cx="3905250" cy="1097280"/>
          </a:xfrm>
        </p:grpSpPr>
        <p:sp>
          <p:nvSpPr>
            <p:cNvPr id="12" name="TextBox 12"/>
            <p:cNvSpPr txBox="1"/>
            <p:nvPr/>
          </p:nvSpPr>
          <p:spPr>
            <a:xfrm>
              <a:off x="4496329" y="2369820"/>
              <a:ext cx="3199343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gradFill>
                    <a:gsLst>
                      <a:gs pos="0">
                        <a:srgbClr val="C9866B"/>
                      </a:gs>
                      <a:gs pos="100000">
                        <a:srgbClr val="B76E4B"/>
                      </a:gs>
                    </a:gsLst>
                    <a:lin ang="0" scaled="1"/>
                  </a:gradFill>
                  <a:latin typeface="Playfair Display"/>
                  <a:ea typeface="SimSun"/>
                  <a:cs typeface="Playfair Display"/>
                </a:rPr>
                <a:t>MarkBox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143375" y="3190875"/>
              <a:ext cx="390525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9866B">
                    <a:alpha val="0"/>
                  </a:srgbClr>
                </a:gs>
                <a:gs pos="35000">
                  <a:srgbClr val="C9866B">
                    <a:alpha val="60000"/>
                  </a:srgbClr>
                </a:gs>
                <a:gs pos="65000">
                  <a:srgbClr val="C9866B">
                    <a:alpha val="60000"/>
                  </a:srgbClr>
                </a:gs>
                <a:gs pos="100000">
                  <a:srgbClr val="C9866B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928187" y="3583305"/>
            <a:ext cx="2335625" cy="426720"/>
            <a:chOff x="4928187" y="3583305"/>
            <a:chExt cx="2335625" cy="426720"/>
          </a:xfrm>
        </p:grpSpPr>
        <p:sp>
          <p:nvSpPr>
            <p:cNvPr id="15" name="TextBox 15"/>
            <p:cNvSpPr txBox="1"/>
            <p:nvPr/>
          </p:nvSpPr>
          <p:spPr>
            <a:xfrm>
              <a:off x="4928187" y="3583305"/>
              <a:ext cx="233562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AI 智能书签管理器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868204" y="5045392"/>
            <a:ext cx="2455593" cy="274320"/>
            <a:chOff x="4868204" y="5045392"/>
            <a:chExt cx="2455593" cy="274320"/>
          </a:xfrm>
        </p:grpSpPr>
        <p:sp>
          <p:nvSpPr>
            <p:cNvPr id="17" name="TextBox 17"/>
            <p:cNvSpPr txBox="1"/>
            <p:nvPr/>
          </p:nvSpPr>
          <p:spPr>
            <a:xfrm>
              <a:off x="4868204" y="5045392"/>
              <a:ext cx="24555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粘贴链接 · AI 理解 · 知识沉淀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76925" y="5453062"/>
            <a:ext cx="454024" cy="142875"/>
            <a:chOff x="5876925" y="5453062"/>
            <a:chExt cx="454024" cy="142875"/>
          </a:xfrm>
        </p:grpSpPr>
        <p:sp>
          <p:nvSpPr>
            <p:cNvPr id="19" name="Freeform 19"/>
            <p:cNvSpPr/>
            <p:nvPr/>
          </p:nvSpPr>
          <p:spPr>
            <a:xfrm>
              <a:off x="5876925" y="5453062"/>
              <a:ext cx="95250" cy="142875"/>
            </a:xfrm>
            <a:custGeom>
              <a:avLst/>
              <a:gdLst/>
              <a:ahLst/>
              <a:cxnLst/>
              <a:rect l="l" t="t" r="r" b="b"/>
              <a:pathLst>
                <a:path w="95250" h="142875">
                  <a:moveTo>
                    <a:pt x="95250" y="31750"/>
                  </a:moveTo>
                  <a:lnTo>
                    <a:pt x="95250" y="142875"/>
                  </a:lnTo>
                  <a:lnTo>
                    <a:pt x="47625" y="111125"/>
                  </a:lnTo>
                  <a:lnTo>
                    <a:pt x="0" y="142875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lnTo>
                    <a:pt x="63500" y="0"/>
                  </a:lnTo>
                  <a:cubicBezTo>
                    <a:pt x="81035" y="0"/>
                    <a:pt x="95250" y="14215"/>
                    <a:pt x="95250" y="3175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196012" y="5461000"/>
              <a:ext cx="134937" cy="127000"/>
            </a:xfrm>
            <a:custGeom>
              <a:avLst/>
              <a:gdLst/>
              <a:ahLst/>
              <a:cxnLst/>
              <a:rect l="l" t="t" r="r" b="b"/>
              <a:pathLst>
                <a:path w="134937" h="127000">
                  <a:moveTo>
                    <a:pt x="103188" y="111125"/>
                  </a:moveTo>
                  <a:cubicBezTo>
                    <a:pt x="111955" y="111125"/>
                    <a:pt x="119062" y="118232"/>
                    <a:pt x="119062" y="127000"/>
                  </a:cubicBezTo>
                  <a:cubicBezTo>
                    <a:pt x="119062" y="118232"/>
                    <a:pt x="126170" y="111125"/>
                    <a:pt x="134937" y="111125"/>
                  </a:cubicBezTo>
                  <a:cubicBezTo>
                    <a:pt x="126170" y="111125"/>
                    <a:pt x="119062" y="104018"/>
                    <a:pt x="119062" y="95250"/>
                  </a:cubicBezTo>
                  <a:cubicBezTo>
                    <a:pt x="119062" y="104018"/>
                    <a:pt x="111955" y="111125"/>
                    <a:pt x="103188" y="111125"/>
                  </a:cubicBezTo>
                  <a:moveTo>
                    <a:pt x="103188" y="15875"/>
                  </a:moveTo>
                  <a:cubicBezTo>
                    <a:pt x="111955" y="15875"/>
                    <a:pt x="119062" y="22982"/>
                    <a:pt x="119062" y="31750"/>
                  </a:cubicBezTo>
                  <a:cubicBezTo>
                    <a:pt x="119062" y="22982"/>
                    <a:pt x="126170" y="15875"/>
                    <a:pt x="134937" y="15875"/>
                  </a:cubicBezTo>
                  <a:cubicBezTo>
                    <a:pt x="126170" y="15875"/>
                    <a:pt x="119062" y="8768"/>
                    <a:pt x="119062" y="0"/>
                  </a:cubicBezTo>
                  <a:cubicBezTo>
                    <a:pt x="119062" y="8768"/>
                    <a:pt x="111955" y="15875"/>
                    <a:pt x="103188" y="15875"/>
                  </a:cubicBezTo>
                  <a:moveTo>
                    <a:pt x="47625" y="111125"/>
                  </a:moveTo>
                  <a:cubicBezTo>
                    <a:pt x="47625" y="84822"/>
                    <a:pt x="68947" y="63500"/>
                    <a:pt x="95250" y="63500"/>
                  </a:cubicBezTo>
                  <a:cubicBezTo>
                    <a:pt x="68947" y="63500"/>
                    <a:pt x="47625" y="42178"/>
                    <a:pt x="47625" y="15875"/>
                  </a:cubicBezTo>
                  <a:cubicBezTo>
                    <a:pt x="47625" y="42178"/>
                    <a:pt x="26303" y="63500"/>
                    <a:pt x="0" y="63500"/>
                  </a:cubicBezTo>
                  <a:cubicBezTo>
                    <a:pt x="26303" y="63500"/>
                    <a:pt x="47625" y="84822"/>
                    <a:pt x="47625" y="111125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22" name="TextBox 22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01 / 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项目路演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712" y="402431"/>
            <a:ext cx="490538" cy="254794"/>
            <a:chOff x="747712" y="402431"/>
            <a:chExt cx="490538" cy="254794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问题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16280" y="1516380"/>
            <a:ext cx="3855720" cy="2969895"/>
            <a:chOff x="716280" y="1516380"/>
            <a:chExt cx="3855720" cy="2969895"/>
          </a:xfrm>
        </p:grpSpPr>
        <p:sp>
          <p:nvSpPr>
            <p:cNvPr id="8" name="TextBox 8"/>
            <p:cNvSpPr txBox="1"/>
            <p:nvPr/>
          </p:nvSpPr>
          <p:spPr>
            <a:xfrm>
              <a:off x="716280" y="1516380"/>
              <a:ext cx="261175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书签的困境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2869882"/>
              <a:ext cx="1299210" cy="678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收藏从未停止</a:t>
              </a:r>
              <a:r>
                <a:rPr lang="zh-CN" sz="16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整理从未开始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6760" y="39662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2000"/>
                    </a:srgbClr>
                  </a:solidFill>
                  <a:latin typeface="Segoe UI"/>
                  <a:ea typeface="Microsoft YaHei"/>
                  <a:cs typeface="Segoe UI"/>
                </a:rPr>
                <a:t>信息过载时代，传统书签管理已经失效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4476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C9866B">
                  <a:alpha val="18000"/>
                </a:srgbClr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905500" y="1333500"/>
            <a:ext cx="5524500" cy="1333500"/>
            <a:chOff x="5905500" y="1333500"/>
            <a:chExt cx="55245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5905500" y="1333500"/>
              <a:ext cx="5524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224588" y="1728788"/>
              <a:ext cx="200025" cy="200025"/>
              <a:chOff x="6224588" y="1728788"/>
              <a:chExt cx="200025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224588" y="17287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7"/>
                    </a:moveTo>
                    <a:cubicBezTo>
                      <a:pt x="0" y="120748"/>
                      <a:pt x="34827" y="155575"/>
                      <a:pt x="77787" y="155575"/>
                    </a:cubicBezTo>
                    <a:cubicBezTo>
                      <a:pt x="120748" y="155575"/>
                      <a:pt x="155575" y="120748"/>
                      <a:pt x="155575" y="77787"/>
                    </a:cubicBez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7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357938" y="18621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6600825" y="1704975"/>
              <a:ext cx="33565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收藏 500+ 链接，想找的永远找不到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05588" y="2059781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缺乏智能分类和高效搜索，浏览器默认书签栏杂乱无章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05500" y="2857500"/>
            <a:ext cx="5524500" cy="1333500"/>
            <a:chOff x="5905500" y="2857500"/>
            <a:chExt cx="5524500" cy="1333500"/>
          </a:xfrm>
        </p:grpSpPr>
        <p:sp>
          <p:nvSpPr>
            <p:cNvPr id="20" name="Rectangle 20"/>
            <p:cNvSpPr/>
            <p:nvPr/>
          </p:nvSpPr>
          <p:spPr>
            <a:xfrm>
              <a:off x="5905500" y="2857500"/>
              <a:ext cx="5524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224588" y="3286125"/>
              <a:ext cx="200025" cy="133350"/>
              <a:chOff x="6224588" y="3286125"/>
              <a:chExt cx="200025" cy="1333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302375" y="33305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B76E4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224588" y="3286125"/>
                <a:ext cx="2000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33350">
                    <a:moveTo>
                      <a:pt x="200025" y="66675"/>
                    </a:moveTo>
                    <a:cubicBezTo>
                      <a:pt x="173355" y="111125"/>
                      <a:pt x="140018" y="133350"/>
                      <a:pt x="100012" y="133350"/>
                    </a:cubicBezTo>
                    <a:cubicBezTo>
                      <a:pt x="60007" y="133350"/>
                      <a:pt x="26670" y="111125"/>
                      <a:pt x="0" y="66675"/>
                    </a:cubicBezTo>
                    <a:cubicBezTo>
                      <a:pt x="26670" y="22225"/>
                      <a:pt x="60007" y="0"/>
                      <a:pt x="100012" y="0"/>
                    </a:cubicBezTo>
                    <a:cubicBezTo>
                      <a:pt x="140018" y="0"/>
                      <a:pt x="173355" y="22225"/>
                      <a:pt x="200025" y="66675"/>
                    </a:cubicBezTo>
                  </a:path>
                </a:pathLst>
              </a:custGeom>
              <a:noFill/>
              <a:ln w="19050">
                <a:solidFill>
                  <a:srgbClr val="B76E4B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600825" y="3228975"/>
              <a:ext cx="29784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看到好文章就存，存完再也不看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05588" y="3583781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缺乏阅读追踪和回顾机制，书签沦为一串沉默的链接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0" y="4381500"/>
            <a:ext cx="5524500" cy="1333500"/>
            <a:chOff x="5905500" y="4381500"/>
            <a:chExt cx="5524500" cy="1333500"/>
          </a:xfrm>
        </p:grpSpPr>
        <p:sp>
          <p:nvSpPr>
            <p:cNvPr id="27" name="Rectangle 27"/>
            <p:cNvSpPr/>
            <p:nvPr/>
          </p:nvSpPr>
          <p:spPr>
            <a:xfrm>
              <a:off x="5905500" y="4381500"/>
              <a:ext cx="5524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235700" y="4787900"/>
              <a:ext cx="177800" cy="177800"/>
              <a:chOff x="6235700" y="4787900"/>
              <a:chExt cx="177800" cy="177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235700" y="47879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55575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55575" y="0"/>
                    </a:lnTo>
                    <a:cubicBezTo>
                      <a:pt x="167850" y="0"/>
                      <a:pt x="177800" y="9950"/>
                      <a:pt x="177800" y="22225"/>
                    </a:cubicBezTo>
                    <a:lnTo>
                      <a:pt x="177800" y="155575"/>
                    </a:lnTo>
                    <a:cubicBezTo>
                      <a:pt x="177800" y="167850"/>
                      <a:pt x="167850" y="177800"/>
                      <a:pt x="155575" y="177800"/>
                    </a:cubicBezTo>
                    <a:lnTo>
                      <a:pt x="22225" y="177800"/>
                    </a:lnTo>
                    <a:cubicBezTo>
                      <a:pt x="9950" y="177800"/>
                      <a:pt x="0" y="167850"/>
                      <a:pt x="0" y="155575"/>
                    </a:cubicBezTo>
                  </a:path>
                </a:pathLst>
              </a:custGeom>
              <a:noFill/>
              <a:ln w="19050">
                <a:solidFill>
                  <a:srgbClr val="D4A57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269038" y="4854575"/>
                <a:ext cx="1111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4450">
                    <a:moveTo>
                      <a:pt x="0" y="44450"/>
                    </a:moveTo>
                    <a:lnTo>
                      <a:pt x="33338" y="11112"/>
                    </a:lnTo>
                    <a:lnTo>
                      <a:pt x="55563" y="33337"/>
                    </a:lnTo>
                    <a:lnTo>
                      <a:pt x="88900" y="0"/>
                    </a:lnTo>
                    <a:lnTo>
                      <a:pt x="111125" y="22225"/>
                    </a:lnTo>
                  </a:path>
                </a:pathLst>
              </a:custGeom>
              <a:noFill/>
              <a:ln w="19050">
                <a:solidFill>
                  <a:srgbClr val="D4A574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600825" y="4752975"/>
              <a:ext cx="27684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知识散落各处，无法形成体系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05588" y="5107781"/>
              <a:ext cx="39290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孤立的链接之间没有关联，无法进行深度阅读和知识结构化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4" name="TextBox 34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02 / 25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书签的困境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5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712" y="402431"/>
            <a:ext cx="490538" cy="254794"/>
            <a:chOff x="747712" y="402431"/>
            <a:chExt cx="490538" cy="254794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方案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175117" y="1295400"/>
            <a:ext cx="3841766" cy="1404938"/>
            <a:chOff x="4175117" y="1295400"/>
            <a:chExt cx="3841766" cy="1404938"/>
          </a:xfrm>
        </p:grpSpPr>
        <p:sp>
          <p:nvSpPr>
            <p:cNvPr id="8" name="TextBox 8"/>
            <p:cNvSpPr txBox="1"/>
            <p:nvPr/>
          </p:nvSpPr>
          <p:spPr>
            <a:xfrm>
              <a:off x="4514207" y="1295400"/>
              <a:ext cx="316358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MarkBox 的答案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75117" y="2140268"/>
              <a:ext cx="38417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一个链接进来，AI 自动提取、理解、分类、关联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0536" y="2426018"/>
              <a:ext cx="23309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9866B">
                      <a:alphaMod val="70000"/>
                    </a:srgbClr>
                  </a:solidFill>
                  <a:latin typeface="Segoe UI"/>
                  <a:ea typeface="Microsoft YaHei"/>
                  <a:cs typeface="Segoe UI"/>
                </a:rPr>
                <a:t>你只管收藏，剩下的交给 AI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3500" y="3238500"/>
            <a:ext cx="2667000" cy="2476500"/>
            <a:chOff x="1333500" y="3238500"/>
            <a:chExt cx="2667000" cy="2476500"/>
          </a:xfrm>
        </p:grpSpPr>
        <p:sp>
          <p:nvSpPr>
            <p:cNvPr id="12" name="Rectangle 12"/>
            <p:cNvSpPr/>
            <p:nvPr/>
          </p:nvSpPr>
          <p:spPr>
            <a:xfrm>
              <a:off x="1333500" y="3238500"/>
              <a:ext cx="2667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362200" y="3505200"/>
              <a:ext cx="609600" cy="609600"/>
            </a:xfrm>
            <a:prstGeom prst="ellipse">
              <a:avLst/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2533648" y="3668506"/>
              <a:ext cx="274821" cy="282953"/>
              <a:chOff x="2533648" y="3668506"/>
              <a:chExt cx="274821" cy="28295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616994" y="3759994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100012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650331" y="3668506"/>
                <a:ext cx="158138" cy="158163"/>
              </a:xfrm>
              <a:custGeom>
                <a:avLst/>
                <a:gdLst/>
                <a:ahLst/>
                <a:cxnLst/>
                <a:rect l="l" t="t" r="r" b="b"/>
                <a:pathLst>
                  <a:path w="158138" h="158163">
                    <a:moveTo>
                      <a:pt x="0" y="41482"/>
                    </a:moveTo>
                    <a:lnTo>
                      <a:pt x="7718" y="32547"/>
                    </a:lnTo>
                    <a:cubicBezTo>
                      <a:pt x="40270" y="0"/>
                      <a:pt x="93043" y="4"/>
                      <a:pt x="125591" y="32556"/>
                    </a:cubicBezTo>
                    <a:cubicBezTo>
                      <a:pt x="158138" y="65108"/>
                      <a:pt x="158134" y="117881"/>
                      <a:pt x="125582" y="150429"/>
                    </a:cubicBezTo>
                    <a:lnTo>
                      <a:pt x="116681" y="158163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533648" y="3793331"/>
                <a:ext cx="150021" cy="158128"/>
              </a:xfrm>
              <a:custGeom>
                <a:avLst/>
                <a:gdLst/>
                <a:ahLst/>
                <a:cxnLst/>
                <a:rect l="l" t="t" r="r" b="b"/>
                <a:pathLst>
                  <a:path w="150021" h="158128">
                    <a:moveTo>
                      <a:pt x="150021" y="116681"/>
                    </a:moveTo>
                    <a:lnTo>
                      <a:pt x="143404" y="125582"/>
                    </a:lnTo>
                    <a:cubicBezTo>
                      <a:pt x="110491" y="158128"/>
                      <a:pt x="57518" y="158128"/>
                      <a:pt x="24605" y="125582"/>
                    </a:cubicBezTo>
                    <a:cubicBezTo>
                      <a:pt x="8860" y="110014"/>
                      <a:pt x="0" y="88792"/>
                      <a:pt x="0" y="66650"/>
                    </a:cubicBezTo>
                    <a:cubicBezTo>
                      <a:pt x="0" y="44508"/>
                      <a:pt x="8860" y="23286"/>
                      <a:pt x="24605" y="7718"/>
                    </a:cubicBezTo>
                    <a:lnTo>
                      <a:pt x="3334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2183987" y="42510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粘贴链接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46898" y="4649152"/>
              <a:ext cx="164020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05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复制 URL 一键丢入</a:t>
              </a:r>
              <a:r>
                <a:rPr lang="zh-CN" sz="105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自动提取标题/封面/元数据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95750" y="4419600"/>
            <a:ext cx="552450" cy="114300"/>
            <a:chOff x="4095750" y="4419600"/>
            <a:chExt cx="552450" cy="114300"/>
          </a:xfrm>
        </p:grpSpPr>
        <p:sp>
          <p:nvSpPr>
            <p:cNvPr id="21" name="Line 21"/>
            <p:cNvSpPr/>
            <p:nvPr/>
          </p:nvSpPr>
          <p:spPr>
            <a:xfrm>
              <a:off x="4095750" y="4476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4533900" y="44196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9866B">
                <a:alpha val="30000"/>
              </a:srgbClr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4762500" y="3238500"/>
            <a:ext cx="2667000" cy="2476500"/>
            <a:chOff x="4762500" y="3238500"/>
            <a:chExt cx="2667000" cy="2476500"/>
          </a:xfrm>
        </p:grpSpPr>
        <p:sp>
          <p:nvSpPr>
            <p:cNvPr id="24" name="Rectangle 24"/>
            <p:cNvSpPr/>
            <p:nvPr/>
          </p:nvSpPr>
          <p:spPr>
            <a:xfrm>
              <a:off x="4762500" y="3238500"/>
              <a:ext cx="2667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791200" y="3505200"/>
              <a:ext cx="609600" cy="609600"/>
            </a:xfrm>
            <a:prstGeom prst="ellipse">
              <a:avLst/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945981" y="3659981"/>
              <a:ext cx="300038" cy="300038"/>
              <a:chOff x="5945981" y="3659981"/>
              <a:chExt cx="300038" cy="3000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096000" y="3826669"/>
                <a:ext cx="116681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33350">
                    <a:moveTo>
                      <a:pt x="58341" y="0"/>
                    </a:moveTo>
                    <a:cubicBezTo>
                      <a:pt x="26120" y="0"/>
                      <a:pt x="0" y="26120"/>
                      <a:pt x="0" y="58341"/>
                    </a:cubicBezTo>
                    <a:lnTo>
                      <a:pt x="0" y="75009"/>
                    </a:lnTo>
                    <a:cubicBezTo>
                      <a:pt x="0" y="107230"/>
                      <a:pt x="26120" y="133350"/>
                      <a:pt x="58341" y="133350"/>
                    </a:cubicBezTo>
                    <a:cubicBezTo>
                      <a:pt x="90561" y="133350"/>
                      <a:pt x="116681" y="107230"/>
                      <a:pt x="116681" y="75009"/>
                    </a:cubicBezTo>
                    <a:lnTo>
                      <a:pt x="116681" y="45006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979319" y="3826669"/>
                <a:ext cx="116681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33350">
                    <a:moveTo>
                      <a:pt x="58341" y="0"/>
                    </a:moveTo>
                    <a:cubicBezTo>
                      <a:pt x="90561" y="0"/>
                      <a:pt x="116681" y="26120"/>
                      <a:pt x="116681" y="58341"/>
                    </a:cubicBezTo>
                    <a:lnTo>
                      <a:pt x="116681" y="75009"/>
                    </a:lnTo>
                    <a:cubicBezTo>
                      <a:pt x="116681" y="107230"/>
                      <a:pt x="90561" y="133350"/>
                      <a:pt x="58341" y="133350"/>
                    </a:cubicBezTo>
                    <a:cubicBezTo>
                      <a:pt x="26120" y="133350"/>
                      <a:pt x="0" y="107230"/>
                      <a:pt x="0" y="75009"/>
                    </a:cubicBezTo>
                    <a:lnTo>
                      <a:pt x="0" y="45006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179344" y="3759994"/>
                <a:ext cx="66675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6681">
                    <a:moveTo>
                      <a:pt x="8334" y="116681"/>
                    </a:moveTo>
                    <a:cubicBezTo>
                      <a:pt x="40555" y="116681"/>
                      <a:pt x="66675" y="90561"/>
                      <a:pt x="66675" y="58341"/>
                    </a:cubicBezTo>
                    <a:cubicBezTo>
                      <a:pt x="66675" y="26120"/>
                      <a:pt x="40555" y="0"/>
                      <a:pt x="833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096000" y="3659981"/>
                <a:ext cx="116681" cy="105013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05013">
                    <a:moveTo>
                      <a:pt x="116681" y="105013"/>
                    </a:moveTo>
                    <a:lnTo>
                      <a:pt x="116681" y="58341"/>
                    </a:lnTo>
                    <a:cubicBezTo>
                      <a:pt x="116681" y="26120"/>
                      <a:pt x="90561" y="0"/>
                      <a:pt x="58341" y="0"/>
                    </a:cubicBezTo>
                    <a:cubicBezTo>
                      <a:pt x="26120" y="0"/>
                      <a:pt x="0" y="26120"/>
                      <a:pt x="0" y="5834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945981" y="3759994"/>
                <a:ext cx="66675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6681">
                    <a:moveTo>
                      <a:pt x="58341" y="116681"/>
                    </a:moveTo>
                    <a:cubicBezTo>
                      <a:pt x="26120" y="116681"/>
                      <a:pt x="0" y="9056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979319" y="3659981"/>
                <a:ext cx="116681" cy="225028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225028">
                    <a:moveTo>
                      <a:pt x="0" y="105013"/>
                    </a:moveTo>
                    <a:lnTo>
                      <a:pt x="0" y="58341"/>
                    </a:lnTo>
                    <a:cubicBezTo>
                      <a:pt x="0" y="26120"/>
                      <a:pt x="26120" y="0"/>
                      <a:pt x="58341" y="0"/>
                    </a:cubicBezTo>
                    <a:cubicBezTo>
                      <a:pt x="90561" y="0"/>
                      <a:pt x="116681" y="26120"/>
                      <a:pt x="116681" y="58341"/>
                    </a:cubicBezTo>
                    <a:lnTo>
                      <a:pt x="116681" y="225028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480146" y="4251008"/>
              <a:ext cx="12317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AI 自动理解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55908" y="4649152"/>
              <a:ext cx="148018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05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DeepSeek V4 Flash 驱动</a:t>
              </a:r>
              <a:r>
                <a:rPr lang="zh-CN" sz="105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智能标签 + 分类 + 摘要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24750" y="4419600"/>
            <a:ext cx="552450" cy="114300"/>
            <a:chOff x="7524750" y="4419600"/>
            <a:chExt cx="552450" cy="114300"/>
          </a:xfrm>
        </p:grpSpPr>
        <p:sp>
          <p:nvSpPr>
            <p:cNvPr id="36" name="Line 36"/>
            <p:cNvSpPr/>
            <p:nvPr/>
          </p:nvSpPr>
          <p:spPr>
            <a:xfrm>
              <a:off x="7524750" y="4476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962900" y="44196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9866B">
                <a:alpha val="30000"/>
              </a:srgbClr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191500" y="3238500"/>
            <a:ext cx="2667000" cy="2476500"/>
            <a:chOff x="8191500" y="3238500"/>
            <a:chExt cx="2667000" cy="2476500"/>
          </a:xfrm>
        </p:grpSpPr>
        <p:sp>
          <p:nvSpPr>
            <p:cNvPr id="39" name="Rectangle 39"/>
            <p:cNvSpPr/>
            <p:nvPr/>
          </p:nvSpPr>
          <p:spPr>
            <a:xfrm>
              <a:off x="8191500" y="3238500"/>
              <a:ext cx="2667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220200" y="3505200"/>
              <a:ext cx="609600" cy="609600"/>
            </a:xfrm>
            <a:prstGeom prst="ellipse">
              <a:avLst/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391650" y="3676650"/>
              <a:ext cx="266700" cy="266700"/>
              <a:chOff x="9391650" y="3676650"/>
              <a:chExt cx="266700" cy="2667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391650" y="36766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233362"/>
                    </a:move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233362" y="0"/>
                    </a:lnTo>
                    <a:cubicBezTo>
                      <a:pt x="251774" y="0"/>
                      <a:pt x="266700" y="14926"/>
                      <a:pt x="266700" y="33338"/>
                    </a:cubicBezTo>
                    <a:lnTo>
                      <a:pt x="266700" y="233362"/>
                    </a:lnTo>
                    <a:cubicBezTo>
                      <a:pt x="266700" y="251774"/>
                      <a:pt x="251774" y="266700"/>
                      <a:pt x="233362" y="266700"/>
                    </a:cubicBezTo>
                    <a:lnTo>
                      <a:pt x="33338" y="266700"/>
                    </a:lnTo>
                    <a:cubicBezTo>
                      <a:pt x="14926" y="266700"/>
                      <a:pt x="0" y="251774"/>
                      <a:pt x="0" y="23336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41656" y="3776662"/>
                <a:ext cx="16668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66675">
                    <a:moveTo>
                      <a:pt x="0" y="66675"/>
                    </a:moveTo>
                    <a:lnTo>
                      <a:pt x="50006" y="16669"/>
                    </a:lnTo>
                    <a:lnTo>
                      <a:pt x="83344" y="50006"/>
                    </a:lnTo>
                    <a:lnTo>
                      <a:pt x="133350" y="0"/>
                    </a:lnTo>
                    <a:lnTo>
                      <a:pt x="166688" y="33338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810958" y="425100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知识网络生长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58212" y="4649152"/>
              <a:ext cx="193357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05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十个视图多维度呈现</a:t>
              </a:r>
              <a:r>
                <a:rPr lang="zh-CN" sz="105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发现关联 · 对比分析 · 知识图谱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7" name="TextBox 47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03 / 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解决方案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3" grpId="0"/>
      <p:bldP spid="35" grpId="0"/>
      <p:bldP spid="38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5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2473833" cy="1216819"/>
            <a:chOff x="727710" y="402431"/>
            <a:chExt cx="2473833" cy="1216819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99160"/>
              <a:ext cx="12027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技术栈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1375410"/>
              <a:ext cx="2454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全栈 TypeScript · 现代 Web 架构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1952625"/>
            <a:ext cx="5387340" cy="1285875"/>
            <a:chOff x="762000" y="1952625"/>
            <a:chExt cx="5387340" cy="1285875"/>
          </a:xfrm>
        </p:grpSpPr>
        <p:sp>
          <p:nvSpPr>
            <p:cNvPr id="10" name="Rectangle 10"/>
            <p:cNvSpPr/>
            <p:nvPr/>
          </p:nvSpPr>
          <p:spPr>
            <a:xfrm>
              <a:off x="762000" y="1952625"/>
              <a:ext cx="4953000" cy="128587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58875" y="2393950"/>
              <a:ext cx="177800" cy="161925"/>
              <a:chOff x="1158875" y="2393950"/>
              <a:chExt cx="177800" cy="1619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58875" y="23939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47775" y="254635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552575" y="23622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全栈框架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2791778"/>
              <a:ext cx="50673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Next.js 16 (Turbopack) + React 19.2 · TypeScript 严格模式 · 36 个 API 端点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00750" y="1952625"/>
            <a:ext cx="5429250" cy="1285875"/>
            <a:chOff x="6000750" y="1952625"/>
            <a:chExt cx="5429250" cy="1285875"/>
          </a:xfrm>
        </p:grpSpPr>
        <p:sp>
          <p:nvSpPr>
            <p:cNvPr id="17" name="Rectangle 17"/>
            <p:cNvSpPr/>
            <p:nvPr/>
          </p:nvSpPr>
          <p:spPr>
            <a:xfrm>
              <a:off x="6000750" y="1952625"/>
              <a:ext cx="5429250" cy="128587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384925" y="2343150"/>
              <a:ext cx="203200" cy="228600"/>
              <a:chOff x="6384925" y="2343150"/>
              <a:chExt cx="203200" cy="228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384925" y="234315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84925" y="23812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384925" y="245745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791325" y="236220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数据层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20790" y="2791778"/>
              <a:ext cx="46542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Prisma 7.8 + SQLite (libsql) · 标签共现推荐 · Embedding 向量语义精排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3429000"/>
            <a:ext cx="5317331" cy="1285875"/>
            <a:chOff x="762000" y="3429000"/>
            <a:chExt cx="5317331" cy="1285875"/>
          </a:xfrm>
        </p:grpSpPr>
        <p:sp>
          <p:nvSpPr>
            <p:cNvPr id="25" name="Rectangle 25"/>
            <p:cNvSpPr/>
            <p:nvPr/>
          </p:nvSpPr>
          <p:spPr>
            <a:xfrm>
              <a:off x="762000" y="3429000"/>
              <a:ext cx="4953000" cy="128587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133475" y="3832225"/>
              <a:ext cx="215900" cy="203200"/>
            </a:xfrm>
            <a:custGeom>
              <a:avLst/>
              <a:gdLst/>
              <a:ahLst/>
              <a:cxnLst/>
              <a:rect l="l" t="t" r="r" b="b"/>
              <a:pathLst>
                <a:path w="215900" h="203200">
                  <a:moveTo>
                    <a:pt x="165100" y="177800"/>
                  </a:moveTo>
                  <a:cubicBezTo>
                    <a:pt x="179128" y="177800"/>
                    <a:pt x="190500" y="189172"/>
                    <a:pt x="190500" y="203200"/>
                  </a:cubicBezTo>
                  <a:cubicBezTo>
                    <a:pt x="190500" y="189172"/>
                    <a:pt x="201872" y="177800"/>
                    <a:pt x="215900" y="177800"/>
                  </a:cubicBezTo>
                  <a:cubicBezTo>
                    <a:pt x="201872" y="177800"/>
                    <a:pt x="190500" y="166428"/>
                    <a:pt x="190500" y="152400"/>
                  </a:cubicBezTo>
                  <a:cubicBezTo>
                    <a:pt x="190500" y="166428"/>
                    <a:pt x="179128" y="177800"/>
                    <a:pt x="165100" y="177800"/>
                  </a:cubicBezTo>
                  <a:moveTo>
                    <a:pt x="165100" y="25400"/>
                  </a:moveTo>
                  <a:cubicBezTo>
                    <a:pt x="179128" y="25400"/>
                    <a:pt x="190500" y="36772"/>
                    <a:pt x="190500" y="50800"/>
                  </a:cubicBezTo>
                  <a:cubicBezTo>
                    <a:pt x="190500" y="36772"/>
                    <a:pt x="201872" y="25400"/>
                    <a:pt x="215900" y="25400"/>
                  </a:cubicBezTo>
                  <a:cubicBezTo>
                    <a:pt x="201872" y="25400"/>
                    <a:pt x="190500" y="14028"/>
                    <a:pt x="190500" y="0"/>
                  </a:cubicBezTo>
                  <a:cubicBezTo>
                    <a:pt x="190500" y="14028"/>
                    <a:pt x="179128" y="25400"/>
                    <a:pt x="165100" y="25400"/>
                  </a:cubicBezTo>
                  <a:moveTo>
                    <a:pt x="76200" y="177800"/>
                  </a:moveTo>
                  <a:cubicBezTo>
                    <a:pt x="76200" y="135716"/>
                    <a:pt x="110316" y="101600"/>
                    <a:pt x="152400" y="101600"/>
                  </a:cubicBezTo>
                  <a:cubicBezTo>
                    <a:pt x="110316" y="101600"/>
                    <a:pt x="76200" y="67484"/>
                    <a:pt x="76200" y="25400"/>
                  </a:cubicBezTo>
                  <a:cubicBezTo>
                    <a:pt x="76200" y="67484"/>
                    <a:pt x="42084" y="101600"/>
                    <a:pt x="0" y="101600"/>
                  </a:cubicBezTo>
                  <a:cubicBezTo>
                    <a:pt x="42084" y="101600"/>
                    <a:pt x="76200" y="135716"/>
                    <a:pt x="76200" y="17780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52575" y="3838575"/>
              <a:ext cx="6996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AI 引擎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2040" y="4268152"/>
              <a:ext cx="4997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DeepSeek V4 Flash · 自动标签/分类/摘要 · Embedding 语义搜索 · AI 路径分析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00750" y="3429000"/>
            <a:ext cx="6115431" cy="1285875"/>
            <a:chOff x="6000750" y="3429000"/>
            <a:chExt cx="6115431" cy="1285875"/>
          </a:xfrm>
        </p:grpSpPr>
        <p:sp>
          <p:nvSpPr>
            <p:cNvPr id="30" name="Rectangle 30"/>
            <p:cNvSpPr/>
            <p:nvPr/>
          </p:nvSpPr>
          <p:spPr>
            <a:xfrm>
              <a:off x="6000750" y="3429000"/>
              <a:ext cx="5429250" cy="1285875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384925" y="3832225"/>
              <a:ext cx="203200" cy="203200"/>
              <a:chOff x="6384925" y="3832225"/>
              <a:chExt cx="203200" cy="203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384925" y="3832225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384925" y="39846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11925" y="3933825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11925" y="3832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791325" y="3838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UI &amp; 动画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20790" y="4268152"/>
              <a:ext cx="57953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Tailwind CSS 4 + shadcn/ui · motion (Framer Motion) · Recharts · dnd-kit · 28 个组件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62000" y="5095875"/>
            <a:ext cx="8001000" cy="342900"/>
            <a:chOff x="762000" y="5095875"/>
            <a:chExt cx="8001000" cy="342900"/>
          </a:xfrm>
        </p:grpSpPr>
        <p:sp>
          <p:nvSpPr>
            <p:cNvPr id="39" name="Rectangle 39"/>
            <p:cNvSpPr/>
            <p:nvPr/>
          </p:nvSpPr>
          <p:spPr>
            <a:xfrm>
              <a:off x="762000" y="5095875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75075" y="5209699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55000"/>
                    </a:srgbClr>
                  </a:solidFill>
                  <a:latin typeface="Segoe UI"/>
                  <a:ea typeface="Microsoft YaHei"/>
                  <a:cs typeface="Segoe UI"/>
                </a:rPr>
                <a:t>TypeScript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38375" y="509587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84691" y="5209699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55000"/>
                    </a:srgbClr>
                  </a:solidFill>
                  <a:latin typeface="Segoe UI"/>
                  <a:ea typeface="Microsoft YaHei"/>
                  <a:cs typeface="Segoe UI"/>
                </a:rPr>
                <a:t>next-auth v5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24250" y="5095875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54088" y="5209699"/>
              <a:ext cx="49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55000"/>
                    </a:srgbClr>
                  </a:solidFill>
                  <a:latin typeface="Segoe UI"/>
                  <a:ea typeface="Microsoft YaHei"/>
                  <a:cs typeface="Segoe UI"/>
                </a:rPr>
                <a:t>dnd-kit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619625" y="5095875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797457" y="5209699"/>
              <a:ext cx="5968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55000"/>
                    </a:srgbClr>
                  </a:solidFill>
                  <a:latin typeface="Segoe UI"/>
                  <a:ea typeface="Microsoft YaHei"/>
                  <a:cs typeface="Segoe UI"/>
                </a:rPr>
                <a:t>Recharts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15000" y="5095875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44838" y="5209699"/>
              <a:ext cx="49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55000"/>
                    </a:srgbClr>
                  </a:solidFill>
                  <a:latin typeface="Segoe UI"/>
                  <a:ea typeface="Microsoft YaHei"/>
                  <a:cs typeface="Segoe UI"/>
                </a:rPr>
                <a:t>cheerio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10375" y="5095875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67716" y="5209699"/>
              <a:ext cx="4473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55000"/>
                    </a:srgbClr>
                  </a:solidFill>
                  <a:latin typeface="Segoe UI"/>
                  <a:ea typeface="Microsoft YaHei"/>
                  <a:cs typeface="Segoe UI"/>
                </a:rPr>
                <a:t>motion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715250" y="5095875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30193" y="5209699"/>
              <a:ext cx="8178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55000"/>
                    </a:srgbClr>
                  </a:solidFill>
                  <a:latin typeface="Segoe UI"/>
                  <a:ea typeface="Microsoft YaHei"/>
                  <a:cs typeface="Segoe UI"/>
                </a:rPr>
                <a:t>lucide-react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54" name="TextBox 54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04 / 25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9618" y="6466999"/>
              <a:ext cx="1090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技术栈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  <p:bldP spid="29" grpId="0"/>
      <p:bldP spid="38" grpId="0"/>
      <p:bldP spid="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116460" cy="1162050"/>
            <a:chOff x="727710" y="402431"/>
            <a:chExt cx="3116460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首页总览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0964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侧边栏导航 + 统计卡片 + 书签概览 + 视图切换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809750"/>
            <a:ext cx="10668000" cy="4000500"/>
            <a:chOff x="762000" y="1809750"/>
            <a:chExt cx="10668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809750"/>
              <a:ext cx="10668000" cy="4000500"/>
            </a:xfrm>
            <a:prstGeom prst="roundRect">
              <a:avLst>
                <a:gd name="adj" fmla="val 285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809750"/>
              <a:ext cx="10668000" cy="4000500"/>
            </a:xfrm>
            <a:prstGeom prst="roundRect">
              <a:avLst>
                <a:gd name="adj" fmla="val 2857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40400" y="3444875"/>
              <a:ext cx="254000" cy="254000"/>
              <a:chOff x="5740400" y="3444875"/>
              <a:chExt cx="254000" cy="25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40400" y="344487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40400" y="363537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899150" y="357187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99150" y="344487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328666" y="3823335"/>
              <a:ext cx="15346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full_dashboard.png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98544" y="40666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仪表板主页全貌截图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20" name="TextBox 20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05 / 25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首页总览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281481" cy="1162050"/>
            <a:chOff x="727710" y="402431"/>
            <a:chExt cx="3281481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添加书签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2614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粘贴 URL → 元数据自动提取 → AI 分类 → 一键入库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2019300"/>
            <a:ext cx="4989599" cy="3981450"/>
            <a:chOff x="762000" y="2019300"/>
            <a:chExt cx="4989599" cy="3981450"/>
          </a:xfrm>
        </p:grpSpPr>
        <p:grpSp>
          <p:nvGrpSpPr>
            <p:cNvPr id="14" name="Group 14"/>
            <p:cNvGrpSpPr/>
            <p:nvPr/>
          </p:nvGrpSpPr>
          <p:grpSpPr>
            <a:xfrm>
              <a:off x="876300" y="2019300"/>
              <a:ext cx="3955590" cy="576262"/>
              <a:chOff x="876300" y="2019300"/>
              <a:chExt cx="3955590" cy="576262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876300" y="2019300"/>
                <a:ext cx="342900" cy="342900"/>
              </a:xfrm>
              <a:prstGeom prst="ellipse">
                <a:avLst/>
              </a:prstGeom>
              <a:solidFill>
                <a:srgbClr val="C9866B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6304" y="21183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9866B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63980" y="211169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元数据提取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67790" y="2382202"/>
                <a:ext cx="34641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cheerio 抓取 OG / JSON-LD / meta 标签，毫秒级响应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76300" y="3067050"/>
              <a:ext cx="3766566" cy="576262"/>
              <a:chOff x="876300" y="3067050"/>
              <a:chExt cx="3766566" cy="576262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876300" y="3067050"/>
                <a:ext cx="342900" cy="342900"/>
              </a:xfrm>
              <a:prstGeom prst="ellipse">
                <a:avLst/>
              </a:prstGeom>
              <a:solidFill>
                <a:srgbClr val="C9866B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86304" y="316611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9866B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63980" y="3159442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AI 智能分析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67790" y="3429952"/>
                <a:ext cx="32750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V4 Flash 自动生成标签 + 分类路径 + 摘要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76300" y="4114800"/>
              <a:ext cx="4340638" cy="576262"/>
              <a:chOff x="876300" y="4114800"/>
              <a:chExt cx="4340638" cy="576262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876300" y="4114800"/>
                <a:ext cx="342900" cy="342900"/>
              </a:xfrm>
              <a:prstGeom prst="ellipse">
                <a:avLst/>
              </a:prstGeom>
              <a:solidFill>
                <a:srgbClr val="C9866B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86304" y="42138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9866B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63980" y="4207192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确认入库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67790" y="4477702"/>
                <a:ext cx="38491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预览卡片（封面 + 标签 + 摘要）→ 用户可编辑修改 → 确认收藏</a:t>
                </a:r>
              </a:p>
            </p:txBody>
          </p:sp>
        </p:grpSp>
        <p:sp>
          <p:nvSpPr>
            <p:cNvPr id="25" name="Rectangle 25"/>
            <p:cNvSpPr/>
            <p:nvPr/>
          </p:nvSpPr>
          <p:spPr>
            <a:xfrm>
              <a:off x="762000" y="5143500"/>
              <a:ext cx="4857750" cy="857250"/>
            </a:xfrm>
            <a:prstGeom prst="roundRect">
              <a:avLst>
                <a:gd name="adj" fmla="val 8889"/>
              </a:avLst>
            </a:prstGeom>
            <a:solidFill>
              <a:srgbClr val="C9866B">
                <a:alpha val="4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7742" y="52763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9866B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域名智能识别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7742" y="5514499"/>
              <a:ext cx="47638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35000"/>
                    </a:srgbClr>
                  </a:solidFill>
                  <a:latin typeface="Segoe UI"/>
                  <a:ea typeface="Microsoft YaHei"/>
                  <a:cs typeface="Segoe UI"/>
                </a:rPr>
                <a:t>B 站视频 (UP主/播放量) · GitHub (Star/Fork/语言) · 知乎 · 博客园 · 通用网页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8695" y="5732145"/>
              <a:ext cx="2687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2A26">
                      <a:alphaMod val="22000"/>
                    </a:srgbClr>
                  </a:solidFill>
                  <a:latin typeface="Segoe UI"/>
                  <a:ea typeface="Microsoft YaHei"/>
                  <a:cs typeface="Segoe UI"/>
                </a:rPr>
                <a:t>元数据提取引擎：cheerio OG 提取 + B站 API 降级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0" y="1905000"/>
            <a:ext cx="5334000" cy="4000500"/>
            <a:chOff x="6096000" y="1905000"/>
            <a:chExt cx="5334000" cy="4000500"/>
          </a:xfrm>
        </p:grpSpPr>
        <p:sp>
          <p:nvSpPr>
            <p:cNvPr id="30" name="Rectangle 30"/>
            <p:cNvSpPr/>
            <p:nvPr/>
          </p:nvSpPr>
          <p:spPr>
            <a:xfrm>
              <a:off x="6096000" y="190500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rgbClr val="F2F0ED"/>
            </a:solidFill>
            <a:ln>
              <a:noFill/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rcRect l="0" t="26049" r="0" b="26049"/>
            <a:stretch>
              <a:fillRect/>
            </a:stretch>
          </p:blipFill>
          <p:spPr>
            <a:xfrm>
              <a:off x="6096000" y="1905000"/>
              <a:ext cx="5334000" cy="4000500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3" name="TextBox 3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06 / 25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添加书签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5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2816423" cy="1162050"/>
            <a:chOff x="727710" y="402431"/>
            <a:chExt cx="2816423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书签管理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27964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拖拽排序 · 状态流转 · 分类管理 · 收藏夹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4687" y="1905000"/>
            <a:ext cx="5662374" cy="4000500"/>
            <a:chOff x="-354687" y="1905000"/>
            <a:chExt cx="5662374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9050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00125" y="2143125"/>
              <a:ext cx="2952750" cy="1905000"/>
            </a:xfrm>
            <a:prstGeom prst="roundRect">
              <a:avLst>
                <a:gd name="adj" fmla="val 4000"/>
              </a:avLst>
            </a:prstGeom>
            <a:solidFill>
              <a:srgbClr val="F2F0ED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rcRect l="0" t="2929" r="0" b="2929"/>
            <a:stretch>
              <a:fillRect/>
            </a:stretch>
          </p:blipFill>
          <p:spPr>
            <a:xfrm>
              <a:off x="1000125" y="2143125"/>
              <a:ext cx="2952750" cy="19050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2081308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拖拽排序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354687" y="4506278"/>
              <a:ext cx="56623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dnd-kit 驱动即时拖拽反馈 · 乐观 UI 更新 · 侧边栏分类拖拽重排 · Balatro 风格动画+音效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81500" y="1905000"/>
            <a:ext cx="3429000" cy="4000500"/>
            <a:chOff x="4381500" y="1905000"/>
            <a:chExt cx="3429000" cy="40005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9050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19625" y="2143125"/>
              <a:ext cx="2952750" cy="1905000"/>
            </a:xfrm>
            <a:prstGeom prst="roundRect">
              <a:avLst>
                <a:gd name="adj" fmla="val 4000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619625" y="2143125"/>
              <a:ext cx="2952750" cy="1905000"/>
            </a:xfrm>
            <a:prstGeom prst="roundRect">
              <a:avLst>
                <a:gd name="adj" fmla="val 4000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005512" y="2943225"/>
              <a:ext cx="200025" cy="171450"/>
              <a:chOff x="6005512" y="2943225"/>
              <a:chExt cx="200025" cy="1714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005512" y="302895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119812" y="30289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119812" y="294322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193554" y="2934652"/>
              <a:ext cx="1804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detail_status_badges.png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97730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状态流转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01540" y="4506278"/>
              <a:ext cx="178022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待读 → 在读 → 已读 → 归档</a:t>
              </a:r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四态生命周期管理 · 一键切换</a:t>
              </a:r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随机回顾提醒 · 不丢不遗忘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01000" y="1905000"/>
            <a:ext cx="3429000" cy="4000500"/>
            <a:chOff x="8001000" y="1905000"/>
            <a:chExt cx="3429000" cy="4000500"/>
          </a:xfrm>
        </p:grpSpPr>
        <p:sp>
          <p:nvSpPr>
            <p:cNvPr id="27" name="Rectangle 27"/>
            <p:cNvSpPr/>
            <p:nvPr/>
          </p:nvSpPr>
          <p:spPr>
            <a:xfrm>
              <a:off x="8001000" y="19050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39125" y="2143125"/>
              <a:ext cx="2952750" cy="1905000"/>
            </a:xfrm>
            <a:prstGeom prst="roundRect">
              <a:avLst>
                <a:gd name="adj" fmla="val 4000"/>
              </a:avLst>
            </a:prstGeom>
            <a:solidFill>
              <a:srgbClr val="F2F0E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rcRect l="21756" t="0" r="21756" b="0"/>
            <a:stretch>
              <a:fillRect/>
            </a:stretch>
          </p:blipFill>
          <p:spPr>
            <a:xfrm>
              <a:off x="8239125" y="2143125"/>
              <a:ext cx="2952750" cy="19050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9117107" y="4188142"/>
              <a:ext cx="1196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分类 &amp; 收藏夹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25401" y="4506278"/>
              <a:ext cx="158019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右键菜单重命名/删除分类</a:t>
              </a:r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收藏夹 CRUD · 层级分类树</a:t>
              </a:r>
              <a:r>
                <a:rPr lang="zh-CN" sz="1050" dirty="0">
                  <a:solidFill>
                    <a:srgbClr val="2D2A26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按分类/收藏夹筛选过滤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3" name="TextBox 3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07 / 25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书签管理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2448877" cy="1162050"/>
            <a:chOff x="727710" y="402431"/>
            <a:chExt cx="2448877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富媒体卡片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四种内容类型，四种差异化卡片展示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905000"/>
            <a:ext cx="2476500" cy="1714500"/>
            <a:chOff x="762000" y="1905000"/>
            <a:chExt cx="24765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905000"/>
              <a:ext cx="24765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905000" y="2428875"/>
              <a:ext cx="190500" cy="190500"/>
              <a:chOff x="1905000" y="2428875"/>
              <a:chExt cx="190500" cy="190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905000" y="25360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035969" y="25360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905000" y="2428875"/>
                <a:ext cx="19050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0969">
                    <a:moveTo>
                      <a:pt x="0" y="130969"/>
                    </a:move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ubicBezTo>
                      <a:pt x="147855" y="0"/>
                      <a:pt x="190500" y="42645"/>
                      <a:pt x="190500" y="95250"/>
                    </a:cubicBezTo>
                    <a:lnTo>
                      <a:pt x="190500" y="130969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794081" y="26641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视频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8035" y="2990374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横向大卡片 · 封面左侧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76791" y="3209449"/>
              <a:ext cx="1246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UP主 · 播放量 · 时长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429000" y="1905000"/>
            <a:ext cx="2476500" cy="1714500"/>
            <a:chOff x="3429000" y="1905000"/>
            <a:chExt cx="2476500" cy="1714500"/>
          </a:xfrm>
        </p:grpSpPr>
        <p:sp>
          <p:nvSpPr>
            <p:cNvPr id="19" name="Rectangle 19"/>
            <p:cNvSpPr/>
            <p:nvPr/>
          </p:nvSpPr>
          <p:spPr>
            <a:xfrm>
              <a:off x="3429000" y="1905000"/>
              <a:ext cx="24765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583906" y="2416969"/>
              <a:ext cx="166688" cy="214312"/>
              <a:chOff x="4583906" y="2416969"/>
              <a:chExt cx="166688" cy="21431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691062" y="2416969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583906" y="241696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42875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190500"/>
                    </a:lnTo>
                    <a:cubicBezTo>
                      <a:pt x="166688" y="203651"/>
                      <a:pt x="156026" y="214312"/>
                      <a:pt x="142875" y="21431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461081" y="26641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文章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60043" y="299037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纵向卡片 · 头图顶部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85284" y="320944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作者 · 日期 · 阅读时长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0" y="1905000"/>
            <a:ext cx="2476500" cy="1714500"/>
            <a:chOff x="6096000" y="1905000"/>
            <a:chExt cx="2476500" cy="1714500"/>
          </a:xfrm>
        </p:grpSpPr>
        <p:sp>
          <p:nvSpPr>
            <p:cNvPr id="27" name="Rectangle 27"/>
            <p:cNvSpPr/>
            <p:nvPr/>
          </p:nvSpPr>
          <p:spPr>
            <a:xfrm>
              <a:off x="6096000" y="1905000"/>
              <a:ext cx="24765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50906" y="2428875"/>
              <a:ext cx="166688" cy="190500"/>
              <a:chOff x="7250906" y="2428875"/>
              <a:chExt cx="166688" cy="1905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10438" y="25717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50906" y="24288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69969" y="24288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74719" y="2476500"/>
                <a:ext cx="11906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47625">
                    <a:moveTo>
                      <a:pt x="0" y="0"/>
                    </a:moveTo>
                    <a:lnTo>
                      <a:pt x="0" y="23812"/>
                    </a:lnTo>
                    <a:cubicBezTo>
                      <a:pt x="0" y="36964"/>
                      <a:pt x="10661" y="47625"/>
                      <a:pt x="23812" y="47625"/>
                    </a:cubicBezTo>
                    <a:lnTo>
                      <a:pt x="95250" y="47625"/>
                    </a:lnTo>
                    <a:cubicBezTo>
                      <a:pt x="108401" y="47625"/>
                      <a:pt x="119062" y="36964"/>
                      <a:pt x="119062" y="23812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334250" y="25241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39058" y="2664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代码仓库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27043" y="299037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紧凑卡片 · 语言色条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2284" y="320944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Star · Fork · License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763000" y="1905000"/>
            <a:ext cx="2667000" cy="1714500"/>
            <a:chOff x="8763000" y="1905000"/>
            <a:chExt cx="2667000" cy="1714500"/>
          </a:xfrm>
        </p:grpSpPr>
        <p:sp>
          <p:nvSpPr>
            <p:cNvPr id="38" name="Rectangle 38"/>
            <p:cNvSpPr/>
            <p:nvPr/>
          </p:nvSpPr>
          <p:spPr>
            <a:xfrm>
              <a:off x="8763000" y="1905000"/>
              <a:ext cx="26670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022086" y="2405062"/>
              <a:ext cx="160090" cy="235744"/>
              <a:chOff x="10022086" y="2405062"/>
              <a:chExt cx="160090" cy="23574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036969" y="2440781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022086" y="2405062"/>
                <a:ext cx="160090" cy="184780"/>
              </a:xfrm>
              <a:custGeom>
                <a:avLst/>
                <a:gdLst/>
                <a:ahLst/>
                <a:cxnLst/>
                <a:rect l="l" t="t" r="r" b="b"/>
                <a:pathLst>
                  <a:path w="160090" h="184780">
                    <a:moveTo>
                      <a:pt x="0" y="154781"/>
                    </a:moveTo>
                    <a:cubicBezTo>
                      <a:pt x="27407" y="178587"/>
                      <a:pt x="65948" y="184780"/>
                      <a:pt x="99433" y="170760"/>
                    </a:cubicBezTo>
                    <a:cubicBezTo>
                      <a:pt x="132919" y="156740"/>
                      <a:pt x="155550" y="124935"/>
                      <a:pt x="157820" y="88703"/>
                    </a:cubicBezTo>
                    <a:cubicBezTo>
                      <a:pt x="160090" y="52472"/>
                      <a:pt x="141607" y="18090"/>
                      <a:pt x="110133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084594" y="25836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036969" y="263128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9890331" y="26641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网页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5296" y="2990374"/>
              <a:ext cx="1162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简约卡片 · Favicon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14534" y="320944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标题 · 域名 · 描述片段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3952875"/>
            <a:ext cx="5191125" cy="2095500"/>
            <a:chOff x="762000" y="3952875"/>
            <a:chExt cx="5191125" cy="2095500"/>
          </a:xfrm>
        </p:grpSpPr>
        <p:sp>
          <p:nvSpPr>
            <p:cNvPr id="48" name="Rectangle 48"/>
            <p:cNvSpPr/>
            <p:nvPr/>
          </p:nvSpPr>
          <p:spPr>
            <a:xfrm>
              <a:off x="762000" y="3952875"/>
              <a:ext cx="5191125" cy="2095500"/>
            </a:xfrm>
            <a:prstGeom prst="roundRect">
              <a:avLst>
                <a:gd name="adj" fmla="val 4545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2000" y="3952875"/>
              <a:ext cx="5191125" cy="2095500"/>
            </a:xfrm>
            <a:prstGeom prst="roundRect">
              <a:avLst>
                <a:gd name="adj" fmla="val 4545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3119438" y="4757738"/>
              <a:ext cx="200024" cy="257175"/>
              <a:chOff x="3119438" y="4757738"/>
              <a:chExt cx="200024" cy="25717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119438" y="4814888"/>
                <a:ext cx="1428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00025">
                    <a:moveTo>
                      <a:pt x="142875" y="42862"/>
                    </a:moveTo>
                    <a:lnTo>
                      <a:pt x="142875" y="200025"/>
                    </a:lnTo>
                    <a:lnTo>
                      <a:pt x="71438" y="157162"/>
                    </a:lnTo>
                    <a:lnTo>
                      <a:pt x="0" y="200025"/>
                    </a:ln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100012" y="0"/>
                    </a:lnTo>
                    <a:cubicBezTo>
                      <a:pt x="123685" y="0"/>
                      <a:pt x="142875" y="19190"/>
                      <a:pt x="142875" y="4286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205162" y="4757738"/>
                <a:ext cx="1143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0025">
                    <a:moveTo>
                      <a:pt x="0" y="0"/>
                    </a:moveTo>
                    <a:lnTo>
                      <a:pt x="71438" y="0"/>
                    </a:lnTo>
                    <a:cubicBezTo>
                      <a:pt x="95110" y="0"/>
                      <a:pt x="114300" y="19190"/>
                      <a:pt x="114300" y="42862"/>
                    </a:cubicBezTo>
                    <a:lnTo>
                      <a:pt x="114300" y="2000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3338512" y="4831556"/>
              <a:ext cx="9886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full_grid.png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40418" y="50572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书签网格视图全貌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38875" y="3952875"/>
            <a:ext cx="5191125" cy="2095500"/>
            <a:chOff x="6238875" y="3952875"/>
            <a:chExt cx="5191125" cy="2095500"/>
          </a:xfrm>
        </p:grpSpPr>
        <p:sp>
          <p:nvSpPr>
            <p:cNvPr id="56" name="Rectangle 56"/>
            <p:cNvSpPr/>
            <p:nvPr/>
          </p:nvSpPr>
          <p:spPr>
            <a:xfrm>
              <a:off x="6238875" y="3952875"/>
              <a:ext cx="5191125" cy="2095500"/>
            </a:xfrm>
            <a:prstGeom prst="roundRect">
              <a:avLst>
                <a:gd name="adj" fmla="val 4545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38875" y="3952875"/>
              <a:ext cx="5191125" cy="2095500"/>
            </a:xfrm>
            <a:prstGeom prst="roundRect">
              <a:avLst>
                <a:gd name="adj" fmla="val 4545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567738" y="4800600"/>
              <a:ext cx="257175" cy="171450"/>
              <a:chOff x="8567738" y="4800600"/>
              <a:chExt cx="257175" cy="17145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667750" y="48577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567738" y="4800600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815388" y="4831556"/>
              <a:ext cx="17612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detail_media_cards.png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17292" y="50572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四种富媒体卡片同框特写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64" name="TextBox 64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08 / 25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富媒体卡片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7" grpId="0"/>
      <p:bldP spid="47" grpId="0"/>
      <p:bldP spid="55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5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7712" y="402431"/>
            <a:ext cx="8331352" cy="1433513"/>
            <a:chOff x="747712" y="402431"/>
            <a:chExt cx="8331352" cy="1433513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AI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76265" y="1009650"/>
              <a:ext cx="223947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AI 能力总览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112937" y="1576864"/>
              <a:ext cx="59661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2D2A26">
                      <a:alphaMod val="35000"/>
                    </a:srgbClr>
                  </a:solidFill>
                  <a:latin typeface="Segoe UI"/>
                  <a:ea typeface="Microsoft YaHei"/>
                  <a:cs typeface="Segoe UI"/>
                </a:rPr>
                <a:t>DeepSeek V4 Flash 驱动，让每个书签从「一个链接」变成「一份结构化知识」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2286000"/>
            <a:ext cx="3429000" cy="3619500"/>
            <a:chOff x="762000" y="2286000"/>
            <a:chExt cx="3429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762000" y="22860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2095500" y="2571750"/>
              <a:ext cx="762000" cy="762000"/>
            </a:xfrm>
            <a:prstGeom prst="ellipse">
              <a:avLst/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333625" y="2809875"/>
              <a:ext cx="289512" cy="289512"/>
              <a:chOff x="2333625" y="2809875"/>
              <a:chExt cx="289512" cy="28951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389188" y="2865438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333625" y="2809875"/>
                <a:ext cx="289512" cy="289512"/>
              </a:xfrm>
              <a:custGeom>
                <a:avLst/>
                <a:gdLst/>
                <a:ahLst/>
                <a:cxnLst/>
                <a:rect l="l" t="t" r="r" b="b"/>
                <a:pathLst>
                  <a:path w="289512" h="289512">
                    <a:moveTo>
                      <a:pt x="0" y="47625"/>
                    </a:moveTo>
                    <a:lnTo>
                      <a:pt x="0" y="129731"/>
                    </a:lnTo>
                    <a:cubicBezTo>
                      <a:pt x="2" y="138150"/>
                      <a:pt x="3348" y="146225"/>
                      <a:pt x="9303" y="152178"/>
                    </a:cubicBezTo>
                    <a:lnTo>
                      <a:pt x="131699" y="274574"/>
                    </a:lnTo>
                    <a:cubicBezTo>
                      <a:pt x="146640" y="289512"/>
                      <a:pt x="170860" y="289512"/>
                      <a:pt x="185801" y="274574"/>
                    </a:cubicBezTo>
                    <a:lnTo>
                      <a:pt x="274574" y="185801"/>
                    </a:lnTo>
                    <a:cubicBezTo>
                      <a:pt x="289512" y="170860"/>
                      <a:pt x="289512" y="146640"/>
                      <a:pt x="274574" y="131699"/>
                    </a:cubicBezTo>
                    <a:lnTo>
                      <a:pt x="152178" y="9303"/>
                    </a:lnTo>
                    <a:cubicBezTo>
                      <a:pt x="146225" y="3348"/>
                      <a:pt x="138150" y="2"/>
                      <a:pt x="129731" y="0"/>
                    </a:cubicBezTo>
                    <a:lnTo>
                      <a:pt x="47625" y="0"/>
                    </a:lnTo>
                    <a:cubicBezTo>
                      <a:pt x="34994" y="0"/>
                      <a:pt x="22880" y="5018"/>
                      <a:pt x="13949" y="13949"/>
                    </a:cubicBezTo>
                    <a:cubicBezTo>
                      <a:pt x="5018" y="22880"/>
                      <a:pt x="0" y="34994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949577" y="35204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自动标签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17370" y="3933825"/>
              <a:ext cx="13182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AI 生成 2-5 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57375" y="42005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精准中文标签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714500" y="4667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03095" y="48872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彩色标签徽章展示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3095" y="5125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标签云词频可视化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81500" y="2286000"/>
            <a:ext cx="3429000" cy="3619500"/>
            <a:chOff x="4381500" y="2286000"/>
            <a:chExt cx="3429000" cy="3619500"/>
          </a:xfrm>
        </p:grpSpPr>
        <p:sp>
          <p:nvSpPr>
            <p:cNvPr id="22" name="Rectangle 22"/>
            <p:cNvSpPr/>
            <p:nvPr/>
          </p:nvSpPr>
          <p:spPr>
            <a:xfrm>
              <a:off x="4381500" y="22860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715000" y="2571750"/>
              <a:ext cx="762000" cy="762000"/>
            </a:xfrm>
            <a:prstGeom prst="ellipse">
              <a:avLst/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953125" y="2825750"/>
              <a:ext cx="285750" cy="238125"/>
            </a:xfrm>
            <a:custGeom>
              <a:avLst/>
              <a:gdLst/>
              <a:ahLst/>
              <a:cxnLst/>
              <a:rect l="l" t="t" r="r" b="b"/>
              <a:pathLst>
                <a:path w="285750" h="238125">
                  <a:moveTo>
                    <a:pt x="31750" y="0"/>
                  </a:moveTo>
                  <a:lnTo>
                    <a:pt x="95250" y="0"/>
                  </a:lnTo>
                  <a:lnTo>
                    <a:pt x="142875" y="47625"/>
                  </a:lnTo>
                  <a:lnTo>
                    <a:pt x="254000" y="47625"/>
                  </a:lnTo>
                  <a:cubicBezTo>
                    <a:pt x="271535" y="47625"/>
                    <a:pt x="285750" y="61840"/>
                    <a:pt x="285750" y="79375"/>
                  </a:cubicBezTo>
                  <a:lnTo>
                    <a:pt x="285750" y="206375"/>
                  </a:lnTo>
                  <a:cubicBezTo>
                    <a:pt x="285750" y="223910"/>
                    <a:pt x="271535" y="238125"/>
                    <a:pt x="254000" y="238125"/>
                  </a:cubicBezTo>
                  <a:lnTo>
                    <a:pt x="31750" y="238125"/>
                  </a:lnTo>
                  <a:cubicBezTo>
                    <a:pt x="14215" y="238125"/>
                    <a:pt x="0" y="223910"/>
                    <a:pt x="0" y="206375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69077" y="35204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智能分类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76900" y="39338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自动建议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76875" y="42005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层级分类路径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0" y="4667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69051" y="4887278"/>
              <a:ext cx="1853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如：技术学习 &gt; 前端 &gt; React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32059" y="5125402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用户可修改 · 分类树侧边栏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01000" y="2286000"/>
            <a:ext cx="3429000" cy="3619500"/>
            <a:chOff x="8001000" y="2286000"/>
            <a:chExt cx="3429000" cy="3619500"/>
          </a:xfrm>
        </p:grpSpPr>
        <p:sp>
          <p:nvSpPr>
            <p:cNvPr id="32" name="Rectangle 32"/>
            <p:cNvSpPr/>
            <p:nvPr/>
          </p:nvSpPr>
          <p:spPr>
            <a:xfrm>
              <a:off x="8001000" y="22860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334500" y="2571750"/>
              <a:ext cx="762000" cy="762000"/>
            </a:xfrm>
            <a:prstGeom prst="ellipse">
              <a:avLst/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604375" y="2809875"/>
              <a:ext cx="222250" cy="285750"/>
              <a:chOff x="9604375" y="2809875"/>
              <a:chExt cx="222250" cy="2857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747250" y="28098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604375" y="2809875"/>
                <a:ext cx="222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0">
                    <a:moveTo>
                      <a:pt x="190500" y="285750"/>
                    </a:moveTo>
                    <a:lnTo>
                      <a:pt x="31750" y="285750"/>
                    </a:lnTo>
                    <a:cubicBezTo>
                      <a:pt x="14215" y="285750"/>
                      <a:pt x="0" y="271535"/>
                      <a:pt x="0" y="2540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0"/>
                    </a:lnTo>
                    <a:cubicBezTo>
                      <a:pt x="222250" y="271535"/>
                      <a:pt x="208035" y="285750"/>
                      <a:pt x="190500" y="2857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295690" y="3520440"/>
              <a:ext cx="83961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AI 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01363" y="3933825"/>
              <a:ext cx="14282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2-3 句中文摘要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01363" y="4200525"/>
              <a:ext cx="14282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1-3 秒自动生成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953500" y="4667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43608" y="4887278"/>
              <a:ext cx="943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展开/收起状态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42095" y="5125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快速回顾书签内容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4" name="TextBox 44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09 / 25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9618" y="646699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AI 能力总览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2958941" cy="1162050"/>
            <a:chOff x="727710" y="402431"/>
            <a:chExt cx="2958941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AI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自动标签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2938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AI 生成 2-5 个精准中文标签，彩色徽章展示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7920" y="2025968"/>
            <a:ext cx="4505932" cy="3360420"/>
            <a:chOff x="787920" y="2025968"/>
            <a:chExt cx="4505932" cy="3360420"/>
          </a:xfrm>
        </p:grpSpPr>
        <p:grpSp>
          <p:nvGrpSpPr>
            <p:cNvPr id="13" name="Group 13"/>
            <p:cNvGrpSpPr/>
            <p:nvPr/>
          </p:nvGrpSpPr>
          <p:grpSpPr>
            <a:xfrm>
              <a:off x="790575" y="2025968"/>
              <a:ext cx="4447270" cy="502920"/>
              <a:chOff x="790575" y="2025968"/>
              <a:chExt cx="4447270" cy="5029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90575" y="2038350"/>
                <a:ext cx="1619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52400">
                    <a:moveTo>
                      <a:pt x="123825" y="133350"/>
                    </a:moveTo>
                    <a:cubicBezTo>
                      <a:pt x="134346" y="133350"/>
                      <a:pt x="142875" y="141879"/>
                      <a:pt x="142875" y="152400"/>
                    </a:cubicBezTo>
                    <a:cubicBezTo>
                      <a:pt x="142875" y="141879"/>
                      <a:pt x="151404" y="133350"/>
                      <a:pt x="161925" y="133350"/>
                    </a:cubicBezTo>
                    <a:cubicBezTo>
                      <a:pt x="151404" y="133350"/>
                      <a:pt x="142875" y="124821"/>
                      <a:pt x="142875" y="114300"/>
                    </a:cubicBezTo>
                    <a:cubicBezTo>
                      <a:pt x="142875" y="124821"/>
                      <a:pt x="134346" y="133350"/>
                      <a:pt x="123825" y="133350"/>
                    </a:cubicBezTo>
                    <a:moveTo>
                      <a:pt x="123825" y="19050"/>
                    </a:moveTo>
                    <a:cubicBezTo>
                      <a:pt x="134346" y="19050"/>
                      <a:pt x="142875" y="27579"/>
                      <a:pt x="142875" y="38100"/>
                    </a:cubicBezTo>
                    <a:cubicBezTo>
                      <a:pt x="142875" y="27579"/>
                      <a:pt x="151404" y="19050"/>
                      <a:pt x="161925" y="19050"/>
                    </a:cubicBezTo>
                    <a:cubicBezTo>
                      <a:pt x="151404" y="19050"/>
                      <a:pt x="142875" y="10521"/>
                      <a:pt x="142875" y="0"/>
                    </a:cubicBezTo>
                    <a:cubicBezTo>
                      <a:pt x="142875" y="10521"/>
                      <a:pt x="134346" y="19050"/>
                      <a:pt x="123825" y="19050"/>
                    </a:cubicBezTo>
                    <a:moveTo>
                      <a:pt x="57150" y="133350"/>
                    </a:moveTo>
                    <a:cubicBezTo>
                      <a:pt x="57150" y="101787"/>
                      <a:pt x="82737" y="76200"/>
                      <a:pt x="114300" y="76200"/>
                    </a:cubicBezTo>
                    <a:cubicBezTo>
                      <a:pt x="82737" y="76200"/>
                      <a:pt x="57150" y="50613"/>
                      <a:pt x="57150" y="19050"/>
                    </a:cubicBezTo>
                    <a:cubicBezTo>
                      <a:pt x="57150" y="50613"/>
                      <a:pt x="31563" y="76200"/>
                      <a:pt x="0" y="76200"/>
                    </a:cubicBezTo>
                    <a:cubicBezTo>
                      <a:pt x="31563" y="76200"/>
                      <a:pt x="57150" y="101787"/>
                      <a:pt x="57150" y="1333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25855" y="2025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智能标签生成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29665" y="2315528"/>
                <a:ext cx="41081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V4 Flash 分析书签内容，自动生成 2-5 个精准中文标签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90575" y="2978468"/>
              <a:ext cx="3586163" cy="502920"/>
              <a:chOff x="790575" y="2978468"/>
              <a:chExt cx="3586163" cy="50292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90575" y="29813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9525" y="38100"/>
                    </a:moveTo>
                    <a:lnTo>
                      <a:pt x="38100" y="38100"/>
                    </a:lnTo>
                    <a:cubicBezTo>
                      <a:pt x="43361" y="38100"/>
                      <a:pt x="47625" y="33836"/>
                      <a:pt x="47625" y="28575"/>
                    </a:cubicBezTo>
                    <a:lnTo>
                      <a:pt x="47625" y="19050"/>
                    </a:lnTo>
                    <a:cubicBezTo>
                      <a:pt x="47625" y="8529"/>
                      <a:pt x="56154" y="0"/>
                      <a:pt x="66675" y="0"/>
                    </a:cubicBezTo>
                    <a:cubicBezTo>
                      <a:pt x="77196" y="0"/>
                      <a:pt x="85725" y="8529"/>
                      <a:pt x="85725" y="19050"/>
                    </a:cubicBezTo>
                    <a:lnTo>
                      <a:pt x="85725" y="28575"/>
                    </a:lnTo>
                    <a:cubicBezTo>
                      <a:pt x="85725" y="33836"/>
                      <a:pt x="89989" y="38100"/>
                      <a:pt x="95250" y="38100"/>
                    </a:cubicBezTo>
                    <a:lnTo>
                      <a:pt x="123825" y="38100"/>
                    </a:lnTo>
                    <a:cubicBezTo>
                      <a:pt x="129086" y="38100"/>
                      <a:pt x="133350" y="42364"/>
                      <a:pt x="133350" y="47625"/>
                    </a:cubicBezTo>
                    <a:lnTo>
                      <a:pt x="133350" y="76200"/>
                    </a:lnTo>
                    <a:cubicBezTo>
                      <a:pt x="133350" y="81461"/>
                      <a:pt x="137614" y="85725"/>
                      <a:pt x="142875" y="85725"/>
                    </a:cubicBezTo>
                    <a:lnTo>
                      <a:pt x="152400" y="85725"/>
                    </a:lnTo>
                    <a:cubicBezTo>
                      <a:pt x="162921" y="85725"/>
                      <a:pt x="171450" y="94254"/>
                      <a:pt x="171450" y="104775"/>
                    </a:cubicBezTo>
                    <a:cubicBezTo>
                      <a:pt x="171450" y="115296"/>
                      <a:pt x="162921" y="123825"/>
                      <a:pt x="152400" y="123825"/>
                    </a:cubicBezTo>
                    <a:lnTo>
                      <a:pt x="142875" y="123825"/>
                    </a:lnTo>
                    <a:cubicBezTo>
                      <a:pt x="137614" y="123825"/>
                      <a:pt x="133350" y="128089"/>
                      <a:pt x="133350" y="133350"/>
                    </a:cubicBezTo>
                    <a:lnTo>
                      <a:pt x="133350" y="161925"/>
                    </a:lnTo>
                    <a:cubicBezTo>
                      <a:pt x="133350" y="167186"/>
                      <a:pt x="129086" y="171450"/>
                      <a:pt x="123825" y="171450"/>
                    </a:cubicBezTo>
                    <a:lnTo>
                      <a:pt x="95250" y="171450"/>
                    </a:lnTo>
                    <a:cubicBezTo>
                      <a:pt x="89989" y="171450"/>
                      <a:pt x="85725" y="167186"/>
                      <a:pt x="85725" y="161925"/>
                    </a:cubicBezTo>
                    <a:lnTo>
                      <a:pt x="85725" y="152400"/>
                    </a:lnTo>
                    <a:cubicBezTo>
                      <a:pt x="85725" y="141879"/>
                      <a:pt x="77196" y="133350"/>
                      <a:pt x="66675" y="133350"/>
                    </a:cubicBezTo>
                    <a:cubicBezTo>
                      <a:pt x="56154" y="133350"/>
                      <a:pt x="47625" y="141879"/>
                      <a:pt x="47625" y="152400"/>
                    </a:cubicBezTo>
                    <a:lnTo>
                      <a:pt x="47625" y="161925"/>
                    </a:lnTo>
                    <a:cubicBezTo>
                      <a:pt x="47625" y="167186"/>
                      <a:pt x="43361" y="171450"/>
                      <a:pt x="38100" y="171450"/>
                    </a:cubicBezTo>
                    <a:lnTo>
                      <a:pt x="9525" y="171450"/>
                    </a:lnTo>
                    <a:cubicBezTo>
                      <a:pt x="4264" y="171450"/>
                      <a:pt x="0" y="167186"/>
                      <a:pt x="0" y="161925"/>
                    </a:cubicBezTo>
                    <a:lnTo>
                      <a:pt x="0" y="133350"/>
                    </a:lnTo>
                    <a:cubicBezTo>
                      <a:pt x="0" y="128089"/>
                      <a:pt x="4264" y="123825"/>
                      <a:pt x="9525" y="123825"/>
                    </a:cubicBezTo>
                    <a:lnTo>
                      <a:pt x="19050" y="123825"/>
                    </a:lnTo>
                    <a:cubicBezTo>
                      <a:pt x="29571" y="123825"/>
                      <a:pt x="38100" y="115296"/>
                      <a:pt x="38100" y="104775"/>
                    </a:cubicBezTo>
                    <a:cubicBezTo>
                      <a:pt x="38100" y="94254"/>
                      <a:pt x="29571" y="85725"/>
                      <a:pt x="19050" y="85725"/>
                    </a:cubicBezTo>
                    <a:lnTo>
                      <a:pt x="9525" y="85725"/>
                    </a:lnTo>
                    <a:cubicBezTo>
                      <a:pt x="4264" y="85725"/>
                      <a:pt x="0" y="81461"/>
                      <a:pt x="0" y="76200"/>
                    </a:cubicBezTo>
                    <a:lnTo>
                      <a:pt x="0" y="47625"/>
                    </a:lnTo>
                    <a:cubicBezTo>
                      <a:pt x="0" y="42364"/>
                      <a:pt x="4264" y="38100"/>
                      <a:pt x="9525" y="3810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25855" y="29784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用户可编辑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29665" y="3268028"/>
                <a:ext cx="324707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标签非锁定，用户可手动增删改，标签属于用户私有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7920" y="3930968"/>
              <a:ext cx="4505932" cy="502920"/>
              <a:chOff x="787920" y="3930968"/>
              <a:chExt cx="4505932" cy="502920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787920" y="3935463"/>
                <a:ext cx="172200" cy="172467"/>
                <a:chOff x="787920" y="3935463"/>
                <a:chExt cx="172200" cy="172467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787920" y="3935463"/>
                  <a:ext cx="172200" cy="172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00" h="172467">
                      <a:moveTo>
                        <a:pt x="69330" y="267"/>
                      </a:moveTo>
                      <a:cubicBezTo>
                        <a:pt x="28087" y="9828"/>
                        <a:pt x="0" y="48066"/>
                        <a:pt x="3212" y="90281"/>
                      </a:cubicBezTo>
                      <a:cubicBezTo>
                        <a:pt x="6423" y="132495"/>
                        <a:pt x="39972" y="166044"/>
                        <a:pt x="82187" y="169255"/>
                      </a:cubicBezTo>
                      <a:cubicBezTo>
                        <a:pt x="124401" y="172467"/>
                        <a:pt x="162639" y="144380"/>
                        <a:pt x="172200" y="103137"/>
                      </a:cubicBezTo>
                      <a:cubicBezTo>
                        <a:pt x="172200" y="97877"/>
                        <a:pt x="167936" y="93612"/>
                        <a:pt x="162675" y="93612"/>
                      </a:cubicBezTo>
                      <a:lnTo>
                        <a:pt x="97905" y="93612"/>
                      </a:lnTo>
                      <a:cubicBezTo>
                        <a:pt x="87384" y="93612"/>
                        <a:pt x="78855" y="85083"/>
                        <a:pt x="78855" y="74562"/>
                      </a:cubicBezTo>
                      <a:lnTo>
                        <a:pt x="78855" y="7887"/>
                      </a:lnTo>
                      <a:cubicBezTo>
                        <a:pt x="78616" y="5608"/>
                        <a:pt x="77474" y="3519"/>
                        <a:pt x="75684" y="2087"/>
                      </a:cubicBezTo>
                      <a:cubicBezTo>
                        <a:pt x="73895" y="655"/>
                        <a:pt x="71606" y="0"/>
                        <a:pt x="69330" y="267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904875" y="393858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cubicBezTo>
                        <a:pt x="24496" y="8625"/>
                        <a:pt x="43762" y="27891"/>
                        <a:pt x="52388" y="52388"/>
                      </a:cubicBezTo>
                      <a:lnTo>
                        <a:pt x="9525" y="52388"/>
                      </a:lnTo>
                      <a:cubicBezTo>
                        <a:pt x="4264" y="52388"/>
                        <a:pt x="0" y="48123"/>
                        <a:pt x="0" y="42862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125855" y="393096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标签词云可视化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9665" y="4220528"/>
                <a:ext cx="41641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纯 CSS flex-wrap + 动态字号实现，Dashboard 标签分布一目了然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00100" y="4883468"/>
              <a:ext cx="3380613" cy="502920"/>
              <a:chOff x="800100" y="4883468"/>
              <a:chExt cx="3380613" cy="502920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800100" y="4886325"/>
                <a:ext cx="152400" cy="171450"/>
                <a:chOff x="800100" y="4886325"/>
                <a:chExt cx="152400" cy="17145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800100" y="48958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14400" y="50101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66775" y="4914900"/>
                  <a:ext cx="666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0">
                      <a:moveTo>
                        <a:pt x="0" y="0"/>
                      </a:moveTo>
                      <a:lnTo>
                        <a:pt x="47625" y="0"/>
                      </a:lnTo>
                      <a:cubicBezTo>
                        <a:pt x="58146" y="0"/>
                        <a:pt x="66675" y="8529"/>
                        <a:pt x="66675" y="19050"/>
                      </a:cubicBezTo>
                      <a:lnTo>
                        <a:pt x="66675" y="952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66775" y="4886325"/>
                  <a:ext cx="285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57150">
                      <a:moveTo>
                        <a:pt x="28575" y="57150"/>
                      </a:moveTo>
                      <a:lnTo>
                        <a:pt x="0" y="28575"/>
                      </a:lnTo>
                      <a:lnTo>
                        <a:pt x="2857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19150" y="4933950"/>
                  <a:ext cx="666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0">
                      <a:moveTo>
                        <a:pt x="66675" y="95250"/>
                      </a:move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57250" y="5000625"/>
                  <a:ext cx="285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57150">
                      <a:moveTo>
                        <a:pt x="0" y="0"/>
                      </a:moveTo>
                      <a:lnTo>
                        <a:pt x="28575" y="28575"/>
                      </a:ln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125855" y="48834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标签共现推荐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5173028"/>
                <a:ext cx="30510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Jaccard 标签相似度算法，免 AI 毫秒级关联推荐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6096000" y="1809750"/>
            <a:ext cx="5334000" cy="4191000"/>
            <a:chOff x="6096000" y="1809750"/>
            <a:chExt cx="5334000" cy="4191000"/>
          </a:xfrm>
        </p:grpSpPr>
        <p:sp>
          <p:nvSpPr>
            <p:cNvPr id="35" name="Rectangle 35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429625" y="3619500"/>
              <a:ext cx="289512" cy="289512"/>
              <a:chOff x="8429625" y="3619500"/>
              <a:chExt cx="289512" cy="28951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485188" y="3675062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29625" y="3619500"/>
                <a:ext cx="289512" cy="289512"/>
              </a:xfrm>
              <a:custGeom>
                <a:avLst/>
                <a:gdLst/>
                <a:ahLst/>
                <a:cxnLst/>
                <a:rect l="l" t="t" r="r" b="b"/>
                <a:pathLst>
                  <a:path w="289512" h="289512">
                    <a:moveTo>
                      <a:pt x="0" y="47625"/>
                    </a:moveTo>
                    <a:lnTo>
                      <a:pt x="0" y="129731"/>
                    </a:lnTo>
                    <a:cubicBezTo>
                      <a:pt x="2" y="138150"/>
                      <a:pt x="3348" y="146225"/>
                      <a:pt x="9303" y="152178"/>
                    </a:cubicBezTo>
                    <a:lnTo>
                      <a:pt x="131699" y="274574"/>
                    </a:lnTo>
                    <a:cubicBezTo>
                      <a:pt x="146640" y="289512"/>
                      <a:pt x="170860" y="289512"/>
                      <a:pt x="185801" y="274574"/>
                    </a:cubicBezTo>
                    <a:lnTo>
                      <a:pt x="274574" y="185801"/>
                    </a:lnTo>
                    <a:cubicBezTo>
                      <a:pt x="289512" y="170860"/>
                      <a:pt x="289512" y="146640"/>
                      <a:pt x="274574" y="131699"/>
                    </a:cubicBezTo>
                    <a:lnTo>
                      <a:pt x="152178" y="9303"/>
                    </a:lnTo>
                    <a:cubicBezTo>
                      <a:pt x="146225" y="3348"/>
                      <a:pt x="138150" y="2"/>
                      <a:pt x="129731" y="0"/>
                    </a:cubicBezTo>
                    <a:lnTo>
                      <a:pt x="47625" y="0"/>
                    </a:lnTo>
                    <a:cubicBezTo>
                      <a:pt x="34994" y="0"/>
                      <a:pt x="22880" y="5018"/>
                      <a:pt x="13949" y="13949"/>
                    </a:cubicBezTo>
                    <a:cubicBezTo>
                      <a:pt x="5018" y="22880"/>
                      <a:pt x="0" y="34994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747760" y="368046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detail_tags.png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0618" y="3923824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AI 标签徽章特写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3" name="TextBox 4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10 / 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自动标签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2771417" cy="1162050"/>
            <a:chOff x="727710" y="402431"/>
            <a:chExt cx="2771417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AI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智能分类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27514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AI 自动建议层级路径，用户可确认或修改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86394" y="2025968"/>
            <a:ext cx="4017397" cy="3646170"/>
            <a:chOff x="786394" y="2025968"/>
            <a:chExt cx="4017397" cy="3646170"/>
          </a:xfrm>
        </p:grpSpPr>
        <p:grpSp>
          <p:nvGrpSpPr>
            <p:cNvPr id="19" name="Group 19"/>
            <p:cNvGrpSpPr/>
            <p:nvPr/>
          </p:nvGrpSpPr>
          <p:grpSpPr>
            <a:xfrm>
              <a:off x="790575" y="2025968"/>
              <a:ext cx="4013216" cy="502920"/>
              <a:chOff x="790575" y="2025968"/>
              <a:chExt cx="4013216" cy="502920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790575" y="2028825"/>
                <a:ext cx="171450" cy="171450"/>
                <a:chOff x="790575" y="2028825"/>
                <a:chExt cx="17145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76300" y="212407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14926" y="0"/>
                        <a:pt x="0" y="14926"/>
                        <a:pt x="0" y="33338"/>
                      </a:cubicBezTo>
                      <a:lnTo>
                        <a:pt x="0" y="42862"/>
                      </a:lnTo>
                      <a:cubicBezTo>
                        <a:pt x="0" y="61274"/>
                        <a:pt x="14926" y="76200"/>
                        <a:pt x="33338" y="76200"/>
                      </a:cubicBezTo>
                      <a:cubicBezTo>
                        <a:pt x="51749" y="76200"/>
                        <a:pt x="66675" y="61274"/>
                        <a:pt x="66675" y="42862"/>
                      </a:cubicBezTo>
                      <a:lnTo>
                        <a:pt x="66675" y="25717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09625" y="212407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42862"/>
                      </a:lnTo>
                      <a:cubicBezTo>
                        <a:pt x="66675" y="61274"/>
                        <a:pt x="51749" y="76200"/>
                        <a:pt x="33338" y="76200"/>
                      </a:cubicBezTo>
                      <a:cubicBezTo>
                        <a:pt x="14926" y="76200"/>
                        <a:pt x="0" y="61274"/>
                        <a:pt x="0" y="42862"/>
                      </a:cubicBezTo>
                      <a:lnTo>
                        <a:pt x="0" y="25717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23925" y="208597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4762" y="66675"/>
                      </a:moveTo>
                      <a:cubicBezTo>
                        <a:pt x="23174" y="66675"/>
                        <a:pt x="38100" y="51749"/>
                        <a:pt x="38100" y="33338"/>
                      </a:cubicBezTo>
                      <a:cubicBezTo>
                        <a:pt x="38100" y="14926"/>
                        <a:pt x="23174" y="0"/>
                        <a:pt x="4762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76300" y="2028825"/>
                  <a:ext cx="66675" cy="60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0008">
                      <a:moveTo>
                        <a:pt x="66675" y="60008"/>
                      </a:moveTo>
                      <a:lnTo>
                        <a:pt x="66675" y="33338"/>
                      </a:ln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790575" y="208597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33338" y="66675"/>
                      </a:moveTo>
                      <a:cubicBezTo>
                        <a:pt x="14926" y="66675"/>
                        <a:pt x="0" y="51749"/>
                        <a:pt x="0" y="33338"/>
                      </a:cubicBez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09625" y="2028825"/>
                  <a:ext cx="666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28588">
                      <a:moveTo>
                        <a:pt x="0" y="60008"/>
                      </a:move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128588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125855" y="20259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AI 路径建议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29665" y="2315528"/>
                <a:ext cx="36741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基于内容语义自动推断分类，如：技术学习 &gt; 前端 &gt; React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90575" y="3073718"/>
              <a:ext cx="3166110" cy="502920"/>
              <a:chOff x="790575" y="3073718"/>
              <a:chExt cx="3166110" cy="50292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90575" y="3086100"/>
                <a:ext cx="1714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75">
                    <a:moveTo>
                      <a:pt x="19050" y="0"/>
                    </a:moveTo>
                    <a:lnTo>
                      <a:pt x="57150" y="0"/>
                    </a:lnTo>
                    <a:lnTo>
                      <a:pt x="85725" y="28575"/>
                    </a:lnTo>
                    <a:lnTo>
                      <a:pt x="152400" y="28575"/>
                    </a:lnTo>
                    <a:cubicBezTo>
                      <a:pt x="162921" y="28575"/>
                      <a:pt x="171450" y="37104"/>
                      <a:pt x="171450" y="47625"/>
                    </a:cubicBezTo>
                    <a:lnTo>
                      <a:pt x="171450" y="123825"/>
                    </a:lnTo>
                    <a:cubicBezTo>
                      <a:pt x="171450" y="134346"/>
                      <a:pt x="162921" y="142875"/>
                      <a:pt x="152400" y="142875"/>
                    </a:cubicBezTo>
                    <a:lnTo>
                      <a:pt x="19050" y="142875"/>
                    </a:lnTo>
                    <a:cubicBezTo>
                      <a:pt x="8529" y="142875"/>
                      <a:pt x="0" y="134346"/>
                      <a:pt x="0" y="123825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25855" y="30737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层级分类树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9665" y="3363278"/>
                <a:ext cx="28270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自引用父子关系，支持无限嵌套的子分类结构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86394" y="4120144"/>
              <a:ext cx="3933386" cy="504244"/>
              <a:chOff x="786394" y="4120144"/>
              <a:chExt cx="3933386" cy="504244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786394" y="4120144"/>
                <a:ext cx="179813" cy="179813"/>
                <a:chOff x="786394" y="4120144"/>
                <a:chExt cx="179813" cy="179813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86394" y="4120144"/>
                  <a:ext cx="179813" cy="17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813" h="179813">
                      <a:moveTo>
                        <a:pt x="73952" y="16726"/>
                      </a:moveTo>
                      <a:cubicBezTo>
                        <a:pt x="78010" y="0"/>
                        <a:pt x="101803" y="0"/>
                        <a:pt x="105861" y="16726"/>
                      </a:cubicBezTo>
                      <a:cubicBezTo>
                        <a:pt x="107096" y="21822"/>
                        <a:pt x="110690" y="26023"/>
                        <a:pt x="115535" y="28030"/>
                      </a:cubicBezTo>
                      <a:cubicBezTo>
                        <a:pt x="120380" y="30037"/>
                        <a:pt x="125891" y="29609"/>
                        <a:pt x="130369" y="26880"/>
                      </a:cubicBezTo>
                      <a:cubicBezTo>
                        <a:pt x="145066" y="17926"/>
                        <a:pt x="161896" y="34747"/>
                        <a:pt x="152943" y="49454"/>
                      </a:cubicBezTo>
                      <a:cubicBezTo>
                        <a:pt x="150217" y="53929"/>
                        <a:pt x="149791" y="59437"/>
                        <a:pt x="151795" y="64278"/>
                      </a:cubicBezTo>
                      <a:cubicBezTo>
                        <a:pt x="153800" y="69120"/>
                        <a:pt x="157995" y="72714"/>
                        <a:pt x="163087" y="73952"/>
                      </a:cubicBezTo>
                      <a:cubicBezTo>
                        <a:pt x="179813" y="78010"/>
                        <a:pt x="179813" y="101803"/>
                        <a:pt x="163087" y="105861"/>
                      </a:cubicBezTo>
                      <a:cubicBezTo>
                        <a:pt x="157991" y="107096"/>
                        <a:pt x="153790" y="110690"/>
                        <a:pt x="151783" y="115535"/>
                      </a:cubicBezTo>
                      <a:cubicBezTo>
                        <a:pt x="149776" y="120380"/>
                        <a:pt x="150204" y="125891"/>
                        <a:pt x="152933" y="130369"/>
                      </a:cubicBezTo>
                      <a:cubicBezTo>
                        <a:pt x="161887" y="145066"/>
                        <a:pt x="145066" y="161896"/>
                        <a:pt x="130359" y="152943"/>
                      </a:cubicBezTo>
                      <a:cubicBezTo>
                        <a:pt x="125884" y="150217"/>
                        <a:pt x="120376" y="149791"/>
                        <a:pt x="115535" y="151795"/>
                      </a:cubicBezTo>
                      <a:cubicBezTo>
                        <a:pt x="110693" y="153800"/>
                        <a:pt x="107099" y="157995"/>
                        <a:pt x="105861" y="163087"/>
                      </a:cubicBezTo>
                      <a:cubicBezTo>
                        <a:pt x="101803" y="179813"/>
                        <a:pt x="78010" y="179813"/>
                        <a:pt x="73952" y="163087"/>
                      </a:cubicBezTo>
                      <a:cubicBezTo>
                        <a:pt x="72717" y="157991"/>
                        <a:pt x="69123" y="153790"/>
                        <a:pt x="64278" y="151783"/>
                      </a:cubicBezTo>
                      <a:cubicBezTo>
                        <a:pt x="59433" y="149776"/>
                        <a:pt x="53922" y="150204"/>
                        <a:pt x="49444" y="152933"/>
                      </a:cubicBezTo>
                      <a:cubicBezTo>
                        <a:pt x="34747" y="161887"/>
                        <a:pt x="17917" y="145066"/>
                        <a:pt x="26870" y="130359"/>
                      </a:cubicBezTo>
                      <a:cubicBezTo>
                        <a:pt x="29596" y="125884"/>
                        <a:pt x="30022" y="120376"/>
                        <a:pt x="28018" y="115535"/>
                      </a:cubicBezTo>
                      <a:cubicBezTo>
                        <a:pt x="26013" y="110693"/>
                        <a:pt x="21818" y="107099"/>
                        <a:pt x="16726" y="105861"/>
                      </a:cubicBezTo>
                      <a:cubicBezTo>
                        <a:pt x="0" y="101803"/>
                        <a:pt x="0" y="78010"/>
                        <a:pt x="16726" y="73952"/>
                      </a:cubicBezTo>
                      <a:cubicBezTo>
                        <a:pt x="21822" y="72717"/>
                        <a:pt x="26023" y="69123"/>
                        <a:pt x="28030" y="64278"/>
                      </a:cubicBezTo>
                      <a:cubicBezTo>
                        <a:pt x="30037" y="59433"/>
                        <a:pt x="29609" y="53922"/>
                        <a:pt x="26880" y="49444"/>
                      </a:cubicBezTo>
                      <a:cubicBezTo>
                        <a:pt x="17926" y="34747"/>
                        <a:pt x="34747" y="17917"/>
                        <a:pt x="49454" y="26870"/>
                      </a:cubicBezTo>
                      <a:cubicBezTo>
                        <a:pt x="58979" y="32661"/>
                        <a:pt x="71323" y="27537"/>
                        <a:pt x="73952" y="16726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47725" y="41814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125855" y="41214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分类管理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29665" y="4411028"/>
                <a:ext cx="35901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右键菜单重命名/删除分类，dnd-kit 可拖拽重排分类顺序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90575" y="5169218"/>
              <a:ext cx="3166110" cy="502920"/>
              <a:chOff x="790575" y="5169218"/>
              <a:chExt cx="3166110" cy="502920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790575" y="5172075"/>
                <a:ext cx="171450" cy="171450"/>
                <a:chOff x="790575" y="5172075"/>
                <a:chExt cx="171450" cy="1714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90575" y="517207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04875" y="52863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125855" y="51692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筛选过滤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29665" y="5458778"/>
                <a:ext cx="28270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侧边栏点击分类即可过滤，快速找到目标书签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6096000" y="1809750"/>
            <a:ext cx="5334000" cy="4191000"/>
            <a:chOff x="6096000" y="1809750"/>
            <a:chExt cx="5334000" cy="4191000"/>
          </a:xfrm>
        </p:grpSpPr>
        <p:sp>
          <p:nvSpPr>
            <p:cNvPr id="37" name="Rectangle 37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sp>
          <p:nvSpPr>
            <p:cNvPr id="39" name="Freeform 39"/>
            <p:cNvSpPr/>
            <p:nvPr/>
          </p:nvSpPr>
          <p:spPr>
            <a:xfrm>
              <a:off x="8429625" y="3635375"/>
              <a:ext cx="285750" cy="238125"/>
            </a:xfrm>
            <a:custGeom>
              <a:avLst/>
              <a:gdLst/>
              <a:ahLst/>
              <a:cxnLst/>
              <a:rect l="l" t="t" r="r" b="b"/>
              <a:pathLst>
                <a:path w="285750" h="238125">
                  <a:moveTo>
                    <a:pt x="31750" y="0"/>
                  </a:moveTo>
                  <a:lnTo>
                    <a:pt x="95250" y="0"/>
                  </a:lnTo>
                  <a:lnTo>
                    <a:pt x="142875" y="47625"/>
                  </a:lnTo>
                  <a:lnTo>
                    <a:pt x="254000" y="47625"/>
                  </a:lnTo>
                  <a:cubicBezTo>
                    <a:pt x="271535" y="47625"/>
                    <a:pt x="285750" y="61840"/>
                    <a:pt x="285750" y="79375"/>
                  </a:cubicBezTo>
                  <a:lnTo>
                    <a:pt x="285750" y="206375"/>
                  </a:lnTo>
                  <a:cubicBezTo>
                    <a:pt x="285750" y="223910"/>
                    <a:pt x="271535" y="238125"/>
                    <a:pt x="254000" y="238125"/>
                  </a:cubicBezTo>
                  <a:lnTo>
                    <a:pt x="31750" y="238125"/>
                  </a:lnTo>
                  <a:cubicBezTo>
                    <a:pt x="14215" y="238125"/>
                    <a:pt x="0" y="223910"/>
                    <a:pt x="0" y="206375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47760" y="3680460"/>
              <a:ext cx="23267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detail_category_suggest.png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0618" y="392382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AI 分类路径建议下拉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3" name="TextBox 4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11 / 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智能分类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041451" cy="1162050"/>
            <a:chOff x="727710" y="402431"/>
            <a:chExt cx="3041451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AI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25942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AI 摘要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0214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2-3 句中文摘要自动生成，快速回顾书签内容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0575" y="2025968"/>
            <a:ext cx="4440269" cy="3646170"/>
            <a:chOff x="790575" y="2025968"/>
            <a:chExt cx="4440269" cy="3646170"/>
          </a:xfrm>
        </p:grpSpPr>
        <p:grpSp>
          <p:nvGrpSpPr>
            <p:cNvPr id="15" name="Group 15"/>
            <p:cNvGrpSpPr/>
            <p:nvPr/>
          </p:nvGrpSpPr>
          <p:grpSpPr>
            <a:xfrm>
              <a:off x="809625" y="2025968"/>
              <a:ext cx="4421219" cy="502920"/>
              <a:chOff x="809625" y="2025968"/>
              <a:chExt cx="4421219" cy="502920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809625" y="2028825"/>
                <a:ext cx="133350" cy="171450"/>
                <a:chOff x="809625" y="2028825"/>
                <a:chExt cx="13335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95350" y="202882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09625" y="202882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125855" y="2025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自动摘要生成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29665" y="2315528"/>
                <a:ext cx="41011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V4 Flash 读取元数据，1-3 秒生成 2-3 句精炼中文摘要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90575" y="3073718"/>
              <a:ext cx="4146233" cy="502920"/>
              <a:chOff x="790575" y="3073718"/>
              <a:chExt cx="4146233" cy="50292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790575" y="3105150"/>
                <a:ext cx="171450" cy="114300"/>
                <a:chOff x="790575" y="3105150"/>
                <a:chExt cx="171450" cy="11430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857250" y="31432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90575" y="31051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171450" y="57150"/>
                      </a:moveTo>
                      <a:cubicBezTo>
                        <a:pt x="148590" y="95250"/>
                        <a:pt x="120015" y="114300"/>
                        <a:pt x="85725" y="114300"/>
                      </a:cubicBezTo>
                      <a:cubicBezTo>
                        <a:pt x="51435" y="114300"/>
                        <a:pt x="22860" y="95250"/>
                        <a:pt x="0" y="57150"/>
                      </a:cubicBezTo>
                      <a:cubicBezTo>
                        <a:pt x="22860" y="19050"/>
                        <a:pt x="51435" y="0"/>
                        <a:pt x="85725" y="0"/>
                      </a:cubicBezTo>
                      <a:cubicBezTo>
                        <a:pt x="120015" y="0"/>
                        <a:pt x="148590" y="19050"/>
                        <a:pt x="171450" y="571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125855" y="3073718"/>
                <a:ext cx="89434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展开/收起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29665" y="3363278"/>
                <a:ext cx="38071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卡片内嵌摘要，点击可展开完整文本，一目了然无需进入详情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90575" y="4121468"/>
              <a:ext cx="4286250" cy="502920"/>
              <a:chOff x="790575" y="4121468"/>
              <a:chExt cx="4286250" cy="502920"/>
            </a:xfrm>
          </p:grpSpPr>
          <p:grpSp>
            <p:nvGrpSpPr>
              <p:cNvPr id="24" name="Group 24"/>
              <p:cNvGrpSpPr/>
              <p:nvPr/>
            </p:nvGrpSpPr>
            <p:grpSpPr>
              <a:xfrm>
                <a:off x="790575" y="4124325"/>
                <a:ext cx="171450" cy="171450"/>
                <a:chOff x="790575" y="4124325"/>
                <a:chExt cx="171450" cy="1714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90575" y="41243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04875" y="42386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125855" y="41214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语义搜索增强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29665" y="4411028"/>
                <a:ext cx="39471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摘要文本纳入全文搜索索引，语义搜索可匹配摘要中的自然语言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90575" y="5169218"/>
              <a:ext cx="4216241" cy="502920"/>
              <a:chOff x="790575" y="5169218"/>
              <a:chExt cx="4216241" cy="50292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90575" y="5181600"/>
                <a:ext cx="1619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52400">
                    <a:moveTo>
                      <a:pt x="123825" y="133350"/>
                    </a:moveTo>
                    <a:cubicBezTo>
                      <a:pt x="134346" y="133350"/>
                      <a:pt x="142875" y="141879"/>
                      <a:pt x="142875" y="152400"/>
                    </a:cubicBezTo>
                    <a:cubicBezTo>
                      <a:pt x="142875" y="141879"/>
                      <a:pt x="151404" y="133350"/>
                      <a:pt x="161925" y="133350"/>
                    </a:cubicBezTo>
                    <a:cubicBezTo>
                      <a:pt x="151404" y="133350"/>
                      <a:pt x="142875" y="124821"/>
                      <a:pt x="142875" y="114300"/>
                    </a:cubicBezTo>
                    <a:cubicBezTo>
                      <a:pt x="142875" y="124821"/>
                      <a:pt x="134346" y="133350"/>
                      <a:pt x="123825" y="133350"/>
                    </a:cubicBezTo>
                    <a:moveTo>
                      <a:pt x="123825" y="19050"/>
                    </a:moveTo>
                    <a:cubicBezTo>
                      <a:pt x="134346" y="19050"/>
                      <a:pt x="142875" y="27579"/>
                      <a:pt x="142875" y="38100"/>
                    </a:cubicBezTo>
                    <a:cubicBezTo>
                      <a:pt x="142875" y="27579"/>
                      <a:pt x="151404" y="19050"/>
                      <a:pt x="161925" y="19050"/>
                    </a:cubicBezTo>
                    <a:cubicBezTo>
                      <a:pt x="151404" y="19050"/>
                      <a:pt x="142875" y="10521"/>
                      <a:pt x="142875" y="0"/>
                    </a:cubicBezTo>
                    <a:cubicBezTo>
                      <a:pt x="142875" y="10521"/>
                      <a:pt x="134346" y="19050"/>
                      <a:pt x="123825" y="19050"/>
                    </a:cubicBezTo>
                    <a:moveTo>
                      <a:pt x="57150" y="133350"/>
                    </a:moveTo>
                    <a:cubicBezTo>
                      <a:pt x="57150" y="101787"/>
                      <a:pt x="82737" y="76200"/>
                      <a:pt x="114300" y="76200"/>
                    </a:cubicBezTo>
                    <a:cubicBezTo>
                      <a:pt x="82737" y="76200"/>
                      <a:pt x="57150" y="50613"/>
                      <a:pt x="57150" y="19050"/>
                    </a:cubicBezTo>
                    <a:cubicBezTo>
                      <a:pt x="57150" y="50613"/>
                      <a:pt x="31563" y="76200"/>
                      <a:pt x="0" y="76200"/>
                    </a:cubicBezTo>
                    <a:cubicBezTo>
                      <a:pt x="31563" y="76200"/>
                      <a:pt x="57150" y="101787"/>
                      <a:pt x="57150" y="1333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125855" y="5169218"/>
                <a:ext cx="13952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Embedding 向量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129665" y="5458778"/>
                <a:ext cx="38771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书签可生成 Embedding 向量，与摘要结合实现语义级精排推荐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096000" y="1809750"/>
            <a:ext cx="5334000" cy="4191000"/>
            <a:chOff x="6096000" y="1809750"/>
            <a:chExt cx="5334000" cy="4191000"/>
          </a:xfrm>
        </p:grpSpPr>
        <p:sp>
          <p:nvSpPr>
            <p:cNvPr id="33" name="Rectangle 33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461375" y="3619500"/>
              <a:ext cx="222250" cy="285750"/>
              <a:chOff x="8461375" y="3619500"/>
              <a:chExt cx="222250" cy="2857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604250" y="3619500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61375" y="3619500"/>
                <a:ext cx="222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0">
                    <a:moveTo>
                      <a:pt x="190500" y="285750"/>
                    </a:moveTo>
                    <a:lnTo>
                      <a:pt x="31750" y="285750"/>
                    </a:lnTo>
                    <a:cubicBezTo>
                      <a:pt x="14215" y="285750"/>
                      <a:pt x="0" y="271535"/>
                      <a:pt x="0" y="2540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0"/>
                    </a:lnTo>
                    <a:cubicBezTo>
                      <a:pt x="222250" y="271535"/>
                      <a:pt x="208035" y="285750"/>
                      <a:pt x="190500" y="2857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747760" y="3680460"/>
              <a:ext cx="15986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detail_summary.png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50618" y="392382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AI 摘要文本展开状态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1" name="TextBox 41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12 / 25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9618" y="6466999"/>
              <a:ext cx="1110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AI 摘要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354806"/>
            <a:ext cx="7644110" cy="950119"/>
            <a:chOff x="727710" y="354806"/>
            <a:chExt cx="7644110" cy="950119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3548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000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7562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十大功能视图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20180" y="926306"/>
              <a:ext cx="45516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同一个书签库，十种视角 — 每种视角解决一种「我想看什么」的需求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1381125"/>
            <a:ext cx="3333750" cy="952500"/>
            <a:chOff x="762000" y="1381125"/>
            <a:chExt cx="3333750" cy="952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381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43781" y="1645444"/>
              <a:ext cx="122238" cy="157163"/>
              <a:chOff x="1043781" y="1645444"/>
              <a:chExt cx="122238" cy="15716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43781" y="1680369"/>
                <a:ext cx="87313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122238">
                    <a:moveTo>
                      <a:pt x="87313" y="26194"/>
                    </a:moveTo>
                    <a:lnTo>
                      <a:pt x="87313" y="122238"/>
                    </a:lnTo>
                    <a:lnTo>
                      <a:pt x="43656" y="96044"/>
                    </a:lnTo>
                    <a:lnTo>
                      <a:pt x="0" y="122238"/>
                    </a:ln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lnTo>
                      <a:pt x="61119" y="0"/>
                    </a:lnTo>
                    <a:cubicBezTo>
                      <a:pt x="75585" y="0"/>
                      <a:pt x="87313" y="11727"/>
                      <a:pt x="87313" y="26194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96169" y="1645444"/>
                <a:ext cx="69850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22238">
                    <a:moveTo>
                      <a:pt x="0" y="0"/>
                    </a:moveTo>
                    <a:lnTo>
                      <a:pt x="43656" y="0"/>
                    </a:lnTo>
                    <a:cubicBezTo>
                      <a:pt x="58123" y="0"/>
                      <a:pt x="69850" y="11727"/>
                      <a:pt x="69850" y="26194"/>
                    </a:cubicBezTo>
                    <a:lnTo>
                      <a:pt x="69850" y="122238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17308" y="1624489"/>
              <a:ext cx="12998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Grid · 网格视图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7742" y="1942624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传统卡片网格/列表模式，快速浏览所有书签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286250" y="1381125"/>
            <a:ext cx="3333750" cy="952500"/>
            <a:chOff x="4286250" y="1381125"/>
            <a:chExt cx="3333750" cy="952500"/>
          </a:xfrm>
        </p:grpSpPr>
        <p:sp>
          <p:nvSpPr>
            <p:cNvPr id="17" name="Rectangle 17"/>
            <p:cNvSpPr/>
            <p:nvPr/>
          </p:nvSpPr>
          <p:spPr>
            <a:xfrm>
              <a:off x="4286250" y="1381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50569" y="1671638"/>
              <a:ext cx="157162" cy="104775"/>
              <a:chOff x="4550569" y="1671638"/>
              <a:chExt cx="157162" cy="1047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611688" y="1706562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50569" y="1671638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57162" y="52388"/>
                    </a:moveTo>
                    <a:cubicBezTo>
                      <a:pt x="136208" y="87312"/>
                      <a:pt x="110014" y="104775"/>
                      <a:pt x="78581" y="104775"/>
                    </a:cubicBezTo>
                    <a:cubicBezTo>
                      <a:pt x="47149" y="104775"/>
                      <a:pt x="20955" y="87312"/>
                      <a:pt x="0" y="52388"/>
                    </a:cubicBezTo>
                    <a:cubicBezTo>
                      <a:pt x="20955" y="17463"/>
                      <a:pt x="47149" y="0"/>
                      <a:pt x="78581" y="0"/>
                    </a:cubicBezTo>
                    <a:cubicBezTo>
                      <a:pt x="110014" y="0"/>
                      <a:pt x="136208" y="17463"/>
                      <a:pt x="157162" y="52388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841558" y="1624489"/>
              <a:ext cx="15498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Gallery · 画廊视图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1992" y="1942624"/>
              <a:ext cx="25015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CSS Columns 瀑布流，适合图片型书签浏览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810500" y="1381125"/>
            <a:ext cx="3619500" cy="952500"/>
            <a:chOff x="7810500" y="1381125"/>
            <a:chExt cx="3619500" cy="952500"/>
          </a:xfrm>
        </p:grpSpPr>
        <p:sp>
          <p:nvSpPr>
            <p:cNvPr id="24" name="Rectangle 24"/>
            <p:cNvSpPr/>
            <p:nvPr/>
          </p:nvSpPr>
          <p:spPr>
            <a:xfrm>
              <a:off x="7810500" y="1381125"/>
              <a:ext cx="3619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098830" y="1636712"/>
              <a:ext cx="117400" cy="175419"/>
              <a:chOff x="8098830" y="1636712"/>
              <a:chExt cx="117400" cy="17541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109744" y="1662906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098830" y="1636712"/>
                <a:ext cx="117400" cy="135506"/>
              </a:xfrm>
              <a:custGeom>
                <a:avLst/>
                <a:gdLst/>
                <a:ahLst/>
                <a:cxnLst/>
                <a:rect l="l" t="t" r="r" b="b"/>
                <a:pathLst>
                  <a:path w="117400" h="135506">
                    <a:moveTo>
                      <a:pt x="0" y="113506"/>
                    </a:moveTo>
                    <a:cubicBezTo>
                      <a:pt x="20099" y="130964"/>
                      <a:pt x="48362" y="135506"/>
                      <a:pt x="72918" y="125224"/>
                    </a:cubicBezTo>
                    <a:cubicBezTo>
                      <a:pt x="97474" y="114943"/>
                      <a:pt x="114070" y="91619"/>
                      <a:pt x="115735" y="65049"/>
                    </a:cubicBezTo>
                    <a:cubicBezTo>
                      <a:pt x="117400" y="38479"/>
                      <a:pt x="103845" y="13266"/>
                      <a:pt x="80764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44669" y="17676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09744" y="1802606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365808" y="1624489"/>
              <a:ext cx="15141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Discover · 发现页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36242" y="1942624"/>
              <a:ext cx="19880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跨领域/最新收录/每日精选三模式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2524125"/>
            <a:ext cx="3333750" cy="952500"/>
            <a:chOff x="762000" y="2524125"/>
            <a:chExt cx="3333750" cy="952500"/>
          </a:xfrm>
        </p:grpSpPr>
        <p:sp>
          <p:nvSpPr>
            <p:cNvPr id="33" name="Rectangle 33"/>
            <p:cNvSpPr/>
            <p:nvPr/>
          </p:nvSpPr>
          <p:spPr>
            <a:xfrm>
              <a:off x="762000" y="2524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35050" y="2797175"/>
              <a:ext cx="139700" cy="139700"/>
              <a:chOff x="1035050" y="2797175"/>
              <a:chExt cx="139700" cy="1397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35050" y="2797175"/>
                <a:ext cx="523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69850">
                    <a:moveTo>
                      <a:pt x="8731" y="0"/>
                    </a:move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61119"/>
                    </a:lnTo>
                    <a:cubicBezTo>
                      <a:pt x="52388" y="65941"/>
                      <a:pt x="48478" y="69850"/>
                      <a:pt x="43656" y="69850"/>
                    </a:cubicBezTo>
                    <a:lnTo>
                      <a:pt x="8731" y="69850"/>
                    </a:lnTo>
                    <a:cubicBezTo>
                      <a:pt x="3909" y="69850"/>
                      <a:pt x="0" y="65941"/>
                      <a:pt x="0" y="61119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35050" y="2901950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8731" y="0"/>
                    </a:move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26194"/>
                    </a:lnTo>
                    <a:cubicBezTo>
                      <a:pt x="52388" y="31016"/>
                      <a:pt x="48478" y="34925"/>
                      <a:pt x="43656" y="34925"/>
                    </a:cubicBezTo>
                    <a:lnTo>
                      <a:pt x="8731" y="34925"/>
                    </a:lnTo>
                    <a:cubicBezTo>
                      <a:pt x="3909" y="34925"/>
                      <a:pt x="0" y="31016"/>
                      <a:pt x="0" y="26194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22362" y="2867025"/>
                <a:ext cx="523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69850">
                    <a:moveTo>
                      <a:pt x="8731" y="0"/>
                    </a:move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61119"/>
                    </a:lnTo>
                    <a:cubicBezTo>
                      <a:pt x="52388" y="65941"/>
                      <a:pt x="48478" y="69850"/>
                      <a:pt x="43656" y="69850"/>
                    </a:cubicBezTo>
                    <a:lnTo>
                      <a:pt x="8731" y="69850"/>
                    </a:lnTo>
                    <a:cubicBezTo>
                      <a:pt x="3909" y="69850"/>
                      <a:pt x="0" y="65941"/>
                      <a:pt x="0" y="61119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22362" y="2797175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8731" y="0"/>
                    </a:move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26194"/>
                    </a:lnTo>
                    <a:cubicBezTo>
                      <a:pt x="52388" y="31016"/>
                      <a:pt x="48478" y="34925"/>
                      <a:pt x="43656" y="34925"/>
                    </a:cubicBezTo>
                    <a:lnTo>
                      <a:pt x="8731" y="34925"/>
                    </a:lnTo>
                    <a:cubicBezTo>
                      <a:pt x="3909" y="34925"/>
                      <a:pt x="0" y="31016"/>
                      <a:pt x="0" y="26194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17308" y="2767489"/>
              <a:ext cx="1656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Dashboard · 仪表板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7742" y="3085624"/>
              <a:ext cx="24365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Recharts 饼图/柱状图 + 词云 + 三层推荐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286250" y="2524125"/>
            <a:ext cx="3333750" cy="952500"/>
            <a:chOff x="4286250" y="2524125"/>
            <a:chExt cx="3333750" cy="952500"/>
          </a:xfrm>
        </p:grpSpPr>
        <p:sp>
          <p:nvSpPr>
            <p:cNvPr id="42" name="Rectangle 42"/>
            <p:cNvSpPr/>
            <p:nvPr/>
          </p:nvSpPr>
          <p:spPr>
            <a:xfrm>
              <a:off x="4286250" y="2524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550569" y="2823369"/>
              <a:ext cx="157162" cy="87312"/>
              <a:chOff x="4550569" y="2823369"/>
              <a:chExt cx="157162" cy="8731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559300" y="2832100"/>
                <a:ext cx="13970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9850">
                    <a:moveTo>
                      <a:pt x="0" y="69850"/>
                    </a:moveTo>
                    <a:lnTo>
                      <a:pt x="52388" y="8731"/>
                    </a:lnTo>
                    <a:lnTo>
                      <a:pt x="96044" y="52388"/>
                    </a:ln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646612" y="2875756"/>
                <a:ext cx="17463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602956" y="2832100"/>
                <a:ext cx="17462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550569" y="2893219"/>
                <a:ext cx="17462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690269" y="2823369"/>
                <a:ext cx="17462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4841558" y="2767489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Timeline · 时间线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11992" y="3085624"/>
              <a:ext cx="2306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按月分组垂直时间线，motion 交错入场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810500" y="2524125"/>
            <a:ext cx="3619500" cy="952500"/>
            <a:chOff x="7810500" y="2524125"/>
            <a:chExt cx="3619500" cy="952500"/>
          </a:xfrm>
        </p:grpSpPr>
        <p:sp>
          <p:nvSpPr>
            <p:cNvPr id="52" name="Rectangle 52"/>
            <p:cNvSpPr/>
            <p:nvPr/>
          </p:nvSpPr>
          <p:spPr>
            <a:xfrm>
              <a:off x="7810500" y="2524125"/>
              <a:ext cx="3619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083550" y="2788444"/>
              <a:ext cx="139700" cy="157163"/>
              <a:chOff x="8083550" y="2788444"/>
              <a:chExt cx="139700" cy="15716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083550" y="279717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88325" y="290195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44669" y="2814638"/>
                <a:ext cx="6111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87313">
                    <a:moveTo>
                      <a:pt x="0" y="0"/>
                    </a:moveTo>
                    <a:lnTo>
                      <a:pt x="43656" y="0"/>
                    </a:lnTo>
                    <a:cubicBezTo>
                      <a:pt x="53301" y="0"/>
                      <a:pt x="61119" y="7818"/>
                      <a:pt x="61119" y="17462"/>
                    </a:cubicBezTo>
                    <a:lnTo>
                      <a:pt x="61119" y="87313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44669" y="2788444"/>
                <a:ext cx="26194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2388">
                    <a:moveTo>
                      <a:pt x="26194" y="52388"/>
                    </a:moveTo>
                    <a:lnTo>
                      <a:pt x="0" y="26194"/>
                    </a:lnTo>
                    <a:lnTo>
                      <a:pt x="26194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01012" y="2832100"/>
                <a:ext cx="6111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87313">
                    <a:moveTo>
                      <a:pt x="61119" y="87313"/>
                    </a:moveTo>
                    <a:lnTo>
                      <a:pt x="17463" y="87313"/>
                    </a:lnTo>
                    <a:cubicBezTo>
                      <a:pt x="7818" y="87313"/>
                      <a:pt x="0" y="79494"/>
                      <a:pt x="0" y="6985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35938" y="2893219"/>
                <a:ext cx="26194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2388">
                    <a:moveTo>
                      <a:pt x="0" y="0"/>
                    </a:moveTo>
                    <a:lnTo>
                      <a:pt x="26194" y="26194"/>
                    </a:lnTo>
                    <a:lnTo>
                      <a:pt x="0" y="52388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8365808" y="2767489"/>
              <a:ext cx="16747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Compare · 横向对比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36242" y="3085624"/>
              <a:ext cx="23585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2-5 篇书签 AI 五维对比，雷达图+矩阵表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62000" y="3667125"/>
            <a:ext cx="3333750" cy="952500"/>
            <a:chOff x="762000" y="3667125"/>
            <a:chExt cx="3333750" cy="952500"/>
          </a:xfrm>
        </p:grpSpPr>
        <p:sp>
          <p:nvSpPr>
            <p:cNvPr id="63" name="Rectangle 63"/>
            <p:cNvSpPr/>
            <p:nvPr/>
          </p:nvSpPr>
          <p:spPr>
            <a:xfrm>
              <a:off x="762000" y="3667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26319" y="3931444"/>
              <a:ext cx="157162" cy="157162"/>
            </a:xfrm>
            <a:custGeom>
              <a:avLst/>
              <a:gdLst/>
              <a:ahLst/>
              <a:cxnLst/>
              <a:rect l="l" t="t" r="r" b="b"/>
              <a:pathLst>
                <a:path w="157162" h="157162">
                  <a:moveTo>
                    <a:pt x="8731" y="34925"/>
                  </a:moveTo>
                  <a:lnTo>
                    <a:pt x="34925" y="34925"/>
                  </a:lnTo>
                  <a:cubicBezTo>
                    <a:pt x="39747" y="34925"/>
                    <a:pt x="43656" y="31016"/>
                    <a:pt x="43656" y="26194"/>
                  </a:cubicBezTo>
                  <a:lnTo>
                    <a:pt x="43656" y="17462"/>
                  </a:lnTo>
                  <a:cubicBezTo>
                    <a:pt x="43656" y="7818"/>
                    <a:pt x="51474" y="0"/>
                    <a:pt x="61119" y="0"/>
                  </a:cubicBezTo>
                  <a:cubicBezTo>
                    <a:pt x="70763" y="0"/>
                    <a:pt x="78581" y="7818"/>
                    <a:pt x="78581" y="17462"/>
                  </a:cubicBezTo>
                  <a:lnTo>
                    <a:pt x="78581" y="26194"/>
                  </a:lnTo>
                  <a:cubicBezTo>
                    <a:pt x="78581" y="31016"/>
                    <a:pt x="82490" y="34925"/>
                    <a:pt x="87313" y="34925"/>
                  </a:cubicBezTo>
                  <a:lnTo>
                    <a:pt x="113506" y="34925"/>
                  </a:lnTo>
                  <a:cubicBezTo>
                    <a:pt x="118328" y="34925"/>
                    <a:pt x="122237" y="38834"/>
                    <a:pt x="122237" y="43656"/>
                  </a:cubicBezTo>
                  <a:lnTo>
                    <a:pt x="122237" y="69850"/>
                  </a:lnTo>
                  <a:cubicBezTo>
                    <a:pt x="122237" y="74672"/>
                    <a:pt x="126147" y="78581"/>
                    <a:pt x="130969" y="78581"/>
                  </a:cubicBezTo>
                  <a:lnTo>
                    <a:pt x="139700" y="78581"/>
                  </a:lnTo>
                  <a:cubicBezTo>
                    <a:pt x="149344" y="78581"/>
                    <a:pt x="157162" y="86399"/>
                    <a:pt x="157162" y="96044"/>
                  </a:cubicBezTo>
                  <a:cubicBezTo>
                    <a:pt x="157162" y="105688"/>
                    <a:pt x="149344" y="113506"/>
                    <a:pt x="139700" y="113506"/>
                  </a:cubicBezTo>
                  <a:lnTo>
                    <a:pt x="130969" y="113506"/>
                  </a:lnTo>
                  <a:cubicBezTo>
                    <a:pt x="126147" y="113506"/>
                    <a:pt x="122237" y="117415"/>
                    <a:pt x="122237" y="122237"/>
                  </a:cubicBezTo>
                  <a:lnTo>
                    <a:pt x="122237" y="148431"/>
                  </a:lnTo>
                  <a:cubicBezTo>
                    <a:pt x="122237" y="153253"/>
                    <a:pt x="118328" y="157162"/>
                    <a:pt x="113506" y="157162"/>
                  </a:cubicBezTo>
                  <a:lnTo>
                    <a:pt x="87313" y="157162"/>
                  </a:lnTo>
                  <a:cubicBezTo>
                    <a:pt x="82490" y="157162"/>
                    <a:pt x="78581" y="153253"/>
                    <a:pt x="78581" y="148431"/>
                  </a:cubicBezTo>
                  <a:lnTo>
                    <a:pt x="78581" y="139700"/>
                  </a:lnTo>
                  <a:cubicBezTo>
                    <a:pt x="78581" y="130056"/>
                    <a:pt x="70763" y="122237"/>
                    <a:pt x="61119" y="122237"/>
                  </a:cubicBezTo>
                  <a:cubicBezTo>
                    <a:pt x="51474" y="122237"/>
                    <a:pt x="43656" y="130056"/>
                    <a:pt x="43656" y="139700"/>
                  </a:cubicBezTo>
                  <a:lnTo>
                    <a:pt x="43656" y="148431"/>
                  </a:lnTo>
                  <a:cubicBezTo>
                    <a:pt x="43656" y="153253"/>
                    <a:pt x="39747" y="157162"/>
                    <a:pt x="34925" y="157162"/>
                  </a:cubicBezTo>
                  <a:lnTo>
                    <a:pt x="8731" y="157162"/>
                  </a:lnTo>
                  <a:cubicBezTo>
                    <a:pt x="3909" y="157162"/>
                    <a:pt x="0" y="153253"/>
                    <a:pt x="0" y="148431"/>
                  </a:cubicBezTo>
                  <a:lnTo>
                    <a:pt x="0" y="122237"/>
                  </a:lnTo>
                  <a:cubicBezTo>
                    <a:pt x="0" y="117415"/>
                    <a:pt x="3909" y="113506"/>
                    <a:pt x="8731" y="113506"/>
                  </a:cubicBezTo>
                  <a:lnTo>
                    <a:pt x="17462" y="113506"/>
                  </a:lnTo>
                  <a:cubicBezTo>
                    <a:pt x="27107" y="113506"/>
                    <a:pt x="34925" y="105688"/>
                    <a:pt x="34925" y="96044"/>
                  </a:cubicBezTo>
                  <a:cubicBezTo>
                    <a:pt x="34925" y="86399"/>
                    <a:pt x="27107" y="78581"/>
                    <a:pt x="17462" y="78581"/>
                  </a:cubicBezTo>
                  <a:lnTo>
                    <a:pt x="8731" y="78581"/>
                  </a:lnTo>
                  <a:cubicBezTo>
                    <a:pt x="3909" y="78581"/>
                    <a:pt x="0" y="74672"/>
                    <a:pt x="0" y="69850"/>
                  </a:cubicBezTo>
                  <a:lnTo>
                    <a:pt x="0" y="43656"/>
                  </a:lnTo>
                  <a:cubicBezTo>
                    <a:pt x="0" y="38834"/>
                    <a:pt x="3909" y="34925"/>
                    <a:pt x="8731" y="34925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317308" y="3910489"/>
              <a:ext cx="21389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Learning Path · 学习路径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7742" y="4228624"/>
              <a:ext cx="21635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结构化学习计划 + 进度 + 笔记 + 导出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286250" y="3667125"/>
            <a:ext cx="3333750" cy="952500"/>
            <a:chOff x="4286250" y="3667125"/>
            <a:chExt cx="3333750" cy="952500"/>
          </a:xfrm>
        </p:grpSpPr>
        <p:sp>
          <p:nvSpPr>
            <p:cNvPr id="68" name="Rectangle 68"/>
            <p:cNvSpPr/>
            <p:nvPr/>
          </p:nvSpPr>
          <p:spPr>
            <a:xfrm>
              <a:off x="4286250" y="3667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4550569" y="3940175"/>
              <a:ext cx="157163" cy="149225"/>
              <a:chOff x="4550569" y="3940175"/>
              <a:chExt cx="157163" cy="1492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4550569" y="4010025"/>
                <a:ext cx="523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69850">
                    <a:moveTo>
                      <a:pt x="0" y="8731"/>
                    </a:moveTo>
                    <a:cubicBezTo>
                      <a:pt x="0" y="3909"/>
                      <a:pt x="3909" y="0"/>
                      <a:pt x="8731" y="0"/>
                    </a:cubicBez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61119"/>
                    </a:lnTo>
                    <a:cubicBezTo>
                      <a:pt x="52388" y="65941"/>
                      <a:pt x="48478" y="69850"/>
                      <a:pt x="43656" y="69850"/>
                    </a:cubicBezTo>
                    <a:lnTo>
                      <a:pt x="8731" y="69850"/>
                    </a:lnTo>
                    <a:cubicBezTo>
                      <a:pt x="3909" y="69850"/>
                      <a:pt x="0" y="65941"/>
                      <a:pt x="0" y="61119"/>
                    </a:cubicBezTo>
                    <a:lnTo>
                      <a:pt x="0" y="8731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4655344" y="3975100"/>
                <a:ext cx="52388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04775">
                    <a:moveTo>
                      <a:pt x="0" y="8731"/>
                    </a:moveTo>
                    <a:cubicBezTo>
                      <a:pt x="0" y="3909"/>
                      <a:pt x="3909" y="0"/>
                      <a:pt x="8731" y="0"/>
                    </a:cubicBez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96044"/>
                    </a:lnTo>
                    <a:cubicBezTo>
                      <a:pt x="52388" y="100866"/>
                      <a:pt x="48478" y="104775"/>
                      <a:pt x="43656" y="104775"/>
                    </a:cubicBezTo>
                    <a:lnTo>
                      <a:pt x="8731" y="104775"/>
                    </a:lnTo>
                    <a:cubicBezTo>
                      <a:pt x="3909" y="104775"/>
                      <a:pt x="0" y="100866"/>
                      <a:pt x="0" y="96044"/>
                    </a:cubicBezTo>
                    <a:lnTo>
                      <a:pt x="0" y="8731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4602956" y="3940175"/>
                <a:ext cx="52388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39700">
                    <a:moveTo>
                      <a:pt x="0" y="8731"/>
                    </a:moveTo>
                    <a:cubicBezTo>
                      <a:pt x="0" y="3909"/>
                      <a:pt x="3909" y="0"/>
                      <a:pt x="8731" y="0"/>
                    </a:cubicBez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130969"/>
                    </a:lnTo>
                    <a:cubicBezTo>
                      <a:pt x="52388" y="135791"/>
                      <a:pt x="48478" y="139700"/>
                      <a:pt x="43656" y="139700"/>
                    </a:cubicBezTo>
                    <a:lnTo>
                      <a:pt x="8731" y="139700"/>
                    </a:lnTo>
                    <a:cubicBezTo>
                      <a:pt x="3909" y="139700"/>
                      <a:pt x="0" y="135791"/>
                      <a:pt x="0" y="130969"/>
                    </a:cubicBezTo>
                    <a:lnTo>
                      <a:pt x="0" y="8731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4559300" y="4079875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4841558" y="3910489"/>
              <a:ext cx="11749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Weekly · 周报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511992" y="4228624"/>
              <a:ext cx="23585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本周 vs 上周对比 · Top 标签 · 增长趋势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810500" y="3667125"/>
            <a:ext cx="3619500" cy="952500"/>
            <a:chOff x="7810500" y="3667125"/>
            <a:chExt cx="3619500" cy="952500"/>
          </a:xfrm>
        </p:grpSpPr>
        <p:sp>
          <p:nvSpPr>
            <p:cNvPr id="77" name="Rectangle 77"/>
            <p:cNvSpPr/>
            <p:nvPr/>
          </p:nvSpPr>
          <p:spPr>
            <a:xfrm>
              <a:off x="7810500" y="3667125"/>
              <a:ext cx="3619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2D2A26">
                  <a:alpha val="8000"/>
                </a:srgbClr>
              </a:solidFill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8083550" y="3940175"/>
              <a:ext cx="139700" cy="139700"/>
              <a:chOff x="8083550" y="3940175"/>
              <a:chExt cx="139700" cy="1397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083550" y="3940175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122237"/>
                    </a:moveTo>
                    <a:lnTo>
                      <a:pt x="0" y="17462"/>
                    </a:lnTo>
                    <a:cubicBezTo>
                      <a:pt x="0" y="7818"/>
                      <a:pt x="7818" y="0"/>
                      <a:pt x="17463" y="0"/>
                    </a:cubicBezTo>
                    <a:lnTo>
                      <a:pt x="122238" y="0"/>
                    </a:lnTo>
                    <a:cubicBezTo>
                      <a:pt x="131882" y="0"/>
                      <a:pt x="139700" y="7818"/>
                      <a:pt x="139700" y="17462"/>
                    </a:cubicBezTo>
                    <a:lnTo>
                      <a:pt x="139700" y="122237"/>
                    </a:lnTo>
                    <a:cubicBezTo>
                      <a:pt x="139700" y="131882"/>
                      <a:pt x="131882" y="139700"/>
                      <a:pt x="122238" y="139700"/>
                    </a:cubicBezTo>
                    <a:lnTo>
                      <a:pt x="17463" y="139700"/>
                    </a:lnTo>
                    <a:cubicBezTo>
                      <a:pt x="7818" y="139700"/>
                      <a:pt x="0" y="131882"/>
                      <a:pt x="0" y="122237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109744" y="3992562"/>
                <a:ext cx="87313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34925">
                    <a:moveTo>
                      <a:pt x="0" y="34925"/>
                    </a:moveTo>
                    <a:lnTo>
                      <a:pt x="26194" y="8731"/>
                    </a:lnTo>
                    <a:lnTo>
                      <a:pt x="43656" y="26194"/>
                    </a:lnTo>
                    <a:lnTo>
                      <a:pt x="69850" y="0"/>
                    </a:lnTo>
                    <a:lnTo>
                      <a:pt x="87313" y="17462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8365808" y="3910489"/>
              <a:ext cx="23710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Knowledge Graph · 知识图谱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36242" y="4228624"/>
              <a:ext cx="2683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力导向图 + 三层交互 + 时间轴播放 + 截图导出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238500" y="4810125"/>
            <a:ext cx="5715000" cy="952500"/>
            <a:chOff x="3238500" y="4810125"/>
            <a:chExt cx="5715000" cy="952500"/>
          </a:xfrm>
        </p:grpSpPr>
        <p:sp>
          <p:nvSpPr>
            <p:cNvPr id="84" name="Rectangle 84"/>
            <p:cNvSpPr/>
            <p:nvPr/>
          </p:nvSpPr>
          <p:spPr>
            <a:xfrm>
              <a:off x="3238500" y="4810125"/>
              <a:ext cx="5715000" cy="952500"/>
            </a:xfrm>
            <a:prstGeom prst="roundRect">
              <a:avLst>
                <a:gd name="adj" fmla="val 10000"/>
              </a:avLst>
            </a:prstGeom>
            <a:solidFill>
              <a:srgbClr val="C9866B">
                <a:alpha val="4000"/>
              </a:srgbClr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5357760" y="5075945"/>
              <a:ext cx="157850" cy="158095"/>
              <a:chOff x="5357760" y="5075945"/>
              <a:chExt cx="157850" cy="15809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5357760" y="5075945"/>
                <a:ext cx="157850" cy="158095"/>
              </a:xfrm>
              <a:custGeom>
                <a:avLst/>
                <a:gdLst/>
                <a:ahLst/>
                <a:cxnLst/>
                <a:rect l="l" t="t" r="r" b="b"/>
                <a:pathLst>
                  <a:path w="157850" h="158095">
                    <a:moveTo>
                      <a:pt x="63553" y="245"/>
                    </a:moveTo>
                    <a:cubicBezTo>
                      <a:pt x="25746" y="9009"/>
                      <a:pt x="0" y="44060"/>
                      <a:pt x="2944" y="82757"/>
                    </a:cubicBezTo>
                    <a:cubicBezTo>
                      <a:pt x="5888" y="121454"/>
                      <a:pt x="36641" y="152207"/>
                      <a:pt x="75338" y="155151"/>
                    </a:cubicBezTo>
                    <a:cubicBezTo>
                      <a:pt x="114035" y="158095"/>
                      <a:pt x="149086" y="132349"/>
                      <a:pt x="157850" y="94542"/>
                    </a:cubicBezTo>
                    <a:cubicBezTo>
                      <a:pt x="157850" y="89720"/>
                      <a:pt x="153941" y="85811"/>
                      <a:pt x="149119" y="85811"/>
                    </a:cubicBezTo>
                    <a:lnTo>
                      <a:pt x="89746" y="85811"/>
                    </a:lnTo>
                    <a:cubicBezTo>
                      <a:pt x="80102" y="85811"/>
                      <a:pt x="72284" y="77993"/>
                      <a:pt x="72284" y="68349"/>
                    </a:cubicBezTo>
                    <a:lnTo>
                      <a:pt x="72284" y="7230"/>
                    </a:lnTo>
                    <a:cubicBezTo>
                      <a:pt x="72065" y="5140"/>
                      <a:pt x="71018" y="3226"/>
                      <a:pt x="69377" y="1913"/>
                    </a:cubicBezTo>
                    <a:cubicBezTo>
                      <a:pt x="67737" y="601"/>
                      <a:pt x="65639" y="0"/>
                      <a:pt x="63553" y="24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5464969" y="5078809"/>
                <a:ext cx="48022" cy="48022"/>
              </a:xfrm>
              <a:custGeom>
                <a:avLst/>
                <a:gdLst/>
                <a:ahLst/>
                <a:cxnLst/>
                <a:rect l="l" t="t" r="r" b="b"/>
                <a:pathLst>
                  <a:path w="48022" h="48022">
                    <a:moveTo>
                      <a:pt x="0" y="0"/>
                    </a:moveTo>
                    <a:cubicBezTo>
                      <a:pt x="22455" y="7907"/>
                      <a:pt x="40115" y="25567"/>
                      <a:pt x="48022" y="48022"/>
                    </a:cubicBezTo>
                    <a:lnTo>
                      <a:pt x="8731" y="48022"/>
                    </a:lnTo>
                    <a:cubicBezTo>
                      <a:pt x="3909" y="48022"/>
                      <a:pt x="0" y="44113"/>
                      <a:pt x="0" y="39291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5698808" y="5053489"/>
              <a:ext cx="16480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Activity · 活动日志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321618" y="5371624"/>
              <a:ext cx="3158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书签收藏/阅读/归档操作记录，追踪用户知识消费行为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91" name="TextBox 91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13 / 25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49618" y="6466999"/>
              <a:ext cx="14809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十大视图总览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32" grpId="0"/>
      <p:bldP spid="41" grpId="0"/>
      <p:bldP spid="51" grpId="0"/>
      <p:bldP spid="62" grpId="0"/>
      <p:bldP spid="67" grpId="0"/>
      <p:bldP spid="76" grpId="0"/>
      <p:bldP spid="83" grpId="0"/>
      <p:bldP spid="9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799046" cy="1114425"/>
            <a:chOff x="727710" y="402431"/>
            <a:chExt cx="3799046" cy="1114425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03910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仪表板统计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288256"/>
              <a:ext cx="3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Recharts 可视化 · 三层智能推荐 · 数据驱动的阅读洞察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714500"/>
            <a:ext cx="10668000" cy="2571750"/>
            <a:chOff x="762000" y="1714500"/>
            <a:chExt cx="10668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714500"/>
              <a:ext cx="10668000" cy="2571750"/>
            </a:xfrm>
            <a:prstGeom prst="roundRect">
              <a:avLst>
                <a:gd name="adj" fmla="val 4444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714500"/>
              <a:ext cx="10668000" cy="2571750"/>
            </a:xfrm>
            <a:prstGeom prst="roundRect">
              <a:avLst>
                <a:gd name="adj" fmla="val 4444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62625" y="2682875"/>
              <a:ext cx="285750" cy="263525"/>
              <a:chOff x="5762625" y="2682875"/>
              <a:chExt cx="285750" cy="2635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62625" y="280987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953125" y="2746375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857875" y="2682875"/>
                <a:ext cx="952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0"/>
                      <a:pt x="79375" y="254000"/>
                    </a:cubicBezTo>
                    <a:lnTo>
                      <a:pt x="15875" y="254000"/>
                    </a:lnTo>
                    <a:cubicBezTo>
                      <a:pt x="7107" y="254000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778500" y="2936875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152644" y="3108960"/>
              <a:ext cx="18867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detail_stats_chart.png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49026" y="3352324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饼图 + 柱状图 + 词云特写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4572000"/>
            <a:ext cx="11337846" cy="1428750"/>
            <a:chOff x="762000" y="4572000"/>
            <a:chExt cx="11337846" cy="1428750"/>
          </a:xfrm>
        </p:grpSpPr>
        <p:grpSp>
          <p:nvGrpSpPr>
            <p:cNvPr id="26" name="Group 26"/>
            <p:cNvGrpSpPr/>
            <p:nvPr/>
          </p:nvGrpSpPr>
          <p:grpSpPr>
            <a:xfrm>
              <a:off x="762000" y="4572000"/>
              <a:ext cx="4055603" cy="1428750"/>
              <a:chOff x="762000" y="4572000"/>
              <a:chExt cx="4055603" cy="1428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4572000"/>
                <a:ext cx="333375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 w="9525">
                <a:solidFill>
                  <a:srgbClr val="2D2A26">
                    <a:alpha val="8000"/>
                  </a:srgbClr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1073670" y="4935588"/>
                <a:ext cx="172200" cy="172467"/>
                <a:chOff x="1073670" y="4935588"/>
                <a:chExt cx="172200" cy="172467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1073670" y="4935588"/>
                  <a:ext cx="172200" cy="172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00" h="172467">
                      <a:moveTo>
                        <a:pt x="69330" y="267"/>
                      </a:moveTo>
                      <a:cubicBezTo>
                        <a:pt x="28087" y="9828"/>
                        <a:pt x="0" y="48066"/>
                        <a:pt x="3212" y="90281"/>
                      </a:cubicBezTo>
                      <a:cubicBezTo>
                        <a:pt x="6423" y="132495"/>
                        <a:pt x="39972" y="166044"/>
                        <a:pt x="82187" y="169255"/>
                      </a:cubicBezTo>
                      <a:cubicBezTo>
                        <a:pt x="124401" y="172467"/>
                        <a:pt x="162639" y="144380"/>
                        <a:pt x="172200" y="103137"/>
                      </a:cubicBezTo>
                      <a:cubicBezTo>
                        <a:pt x="172200" y="97877"/>
                        <a:pt x="167936" y="93612"/>
                        <a:pt x="162675" y="93612"/>
                      </a:cubicBezTo>
                      <a:lnTo>
                        <a:pt x="97905" y="93612"/>
                      </a:lnTo>
                      <a:cubicBezTo>
                        <a:pt x="87384" y="93612"/>
                        <a:pt x="78855" y="85083"/>
                        <a:pt x="78855" y="74562"/>
                      </a:cubicBezTo>
                      <a:lnTo>
                        <a:pt x="78855" y="7887"/>
                      </a:lnTo>
                      <a:cubicBezTo>
                        <a:pt x="78616" y="5608"/>
                        <a:pt x="77474" y="3519"/>
                        <a:pt x="75684" y="2087"/>
                      </a:cubicBezTo>
                      <a:cubicBezTo>
                        <a:pt x="73895" y="655"/>
                        <a:pt x="71606" y="0"/>
                        <a:pt x="69330" y="267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90625" y="4938712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cubicBezTo>
                        <a:pt x="24496" y="8625"/>
                        <a:pt x="43762" y="27891"/>
                        <a:pt x="52388" y="52388"/>
                      </a:cubicBezTo>
                      <a:lnTo>
                        <a:pt x="9525" y="52388"/>
                      </a:lnTo>
                      <a:cubicBezTo>
                        <a:pt x="4264" y="52388"/>
                        <a:pt x="0" y="48123"/>
                        <a:pt x="0" y="42862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412558" y="49296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阅读状态饼图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35368" y="5276374"/>
                <a:ext cx="37822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待读/在读/已读/归档分布 · 内容类型柱状图 · CSS 词云标签频率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33875" y="4572000"/>
              <a:ext cx="3524250" cy="1428750"/>
              <a:chOff x="4333875" y="4572000"/>
              <a:chExt cx="3524250" cy="1428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333875" y="4572000"/>
                <a:ext cx="352425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 w="9525">
                <a:solidFill>
                  <a:srgbClr val="2D2A26">
                    <a:alpha val="800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48200" y="4943475"/>
                <a:ext cx="1619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52400">
                    <a:moveTo>
                      <a:pt x="123825" y="133350"/>
                    </a:moveTo>
                    <a:cubicBezTo>
                      <a:pt x="134346" y="133350"/>
                      <a:pt x="142875" y="141879"/>
                      <a:pt x="142875" y="152400"/>
                    </a:cubicBezTo>
                    <a:cubicBezTo>
                      <a:pt x="142875" y="141879"/>
                      <a:pt x="151404" y="133350"/>
                      <a:pt x="161925" y="133350"/>
                    </a:cubicBezTo>
                    <a:cubicBezTo>
                      <a:pt x="151404" y="133350"/>
                      <a:pt x="142875" y="124821"/>
                      <a:pt x="142875" y="114300"/>
                    </a:cubicBezTo>
                    <a:cubicBezTo>
                      <a:pt x="142875" y="124821"/>
                      <a:pt x="134346" y="133350"/>
                      <a:pt x="123825" y="133350"/>
                    </a:cubicBezTo>
                    <a:moveTo>
                      <a:pt x="123825" y="19050"/>
                    </a:moveTo>
                    <a:cubicBezTo>
                      <a:pt x="134346" y="19050"/>
                      <a:pt x="142875" y="27579"/>
                      <a:pt x="142875" y="38100"/>
                    </a:cubicBezTo>
                    <a:cubicBezTo>
                      <a:pt x="142875" y="27579"/>
                      <a:pt x="151404" y="19050"/>
                      <a:pt x="161925" y="19050"/>
                    </a:cubicBezTo>
                    <a:cubicBezTo>
                      <a:pt x="151404" y="19050"/>
                      <a:pt x="142875" y="10521"/>
                      <a:pt x="142875" y="0"/>
                    </a:cubicBezTo>
                    <a:cubicBezTo>
                      <a:pt x="142875" y="10521"/>
                      <a:pt x="134346" y="19050"/>
                      <a:pt x="123825" y="19050"/>
                    </a:cubicBezTo>
                    <a:moveTo>
                      <a:pt x="57150" y="133350"/>
                    </a:moveTo>
                    <a:cubicBezTo>
                      <a:pt x="57150" y="101787"/>
                      <a:pt x="82737" y="76200"/>
                      <a:pt x="114300" y="76200"/>
                    </a:cubicBezTo>
                    <a:cubicBezTo>
                      <a:pt x="82737" y="76200"/>
                      <a:pt x="57150" y="50613"/>
                      <a:pt x="57150" y="19050"/>
                    </a:cubicBezTo>
                    <a:cubicBezTo>
                      <a:pt x="57150" y="50613"/>
                      <a:pt x="31563" y="76200"/>
                      <a:pt x="0" y="76200"/>
                    </a:cubicBezTo>
                    <a:cubicBezTo>
                      <a:pt x="31563" y="76200"/>
                      <a:pt x="57150" y="101787"/>
                      <a:pt x="57150" y="1333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984432" y="49296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三层智能推荐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07242" y="5276374"/>
                <a:ext cx="2309336" cy="407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650"/>
                  </a:lnSpc>
                </a:pPr>
                <a:r>
                  <a:rPr lang="zh-CN" sz="975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继续深入 · 拓展边界 · 重温旧藏</a:t>
                </a:r>
                <a:r>
                  <a:rPr lang="zh-CN" sz="975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标签共现(毫秒级) + Embedding 语义精排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096250" y="4572000"/>
              <a:ext cx="4003596" cy="1428750"/>
              <a:chOff x="8096250" y="4572000"/>
              <a:chExt cx="4003596" cy="14287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096250" y="4572000"/>
                <a:ext cx="333375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 w="9525">
                <a:solidFill>
                  <a:srgbClr val="2D2A26">
                    <a:alpha val="8000"/>
                  </a:srgbClr>
                </a:solidFill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8410575" y="4972050"/>
                <a:ext cx="171450" cy="95250"/>
                <a:chOff x="8410575" y="4972050"/>
                <a:chExt cx="171450" cy="9525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8420100" y="4981575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57150" y="9525"/>
                      </a:lnTo>
                      <a:lnTo>
                        <a:pt x="104775" y="57150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515350" y="50292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467725" y="49815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410575" y="50482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562975" y="49720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8746808" y="4929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追踪迷你图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369618" y="5276374"/>
                <a:ext cx="37302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TrackingSparkline Canvas 迷你折线图 · GitHub Star 热度追踪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3" name="TextBox 4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14 / 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仪表板统计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393995" cy="1162050"/>
            <a:chOff x="727710" y="402431"/>
            <a:chExt cx="3393995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23935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时间线 &amp; 周报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3739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时间维度洞察 — 浏览书签收藏历史 &amp; 本周阅读变化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4855" y="1806892"/>
            <a:ext cx="5208270" cy="4000977"/>
            <a:chOff x="744855" y="1806892"/>
            <a:chExt cx="5208270" cy="4000977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8068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时间线视图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143125"/>
              <a:ext cx="5191125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143125"/>
              <a:ext cx="5191125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095625" y="3540125"/>
              <a:ext cx="285750" cy="158750"/>
              <a:chOff x="3095625" y="3540125"/>
              <a:chExt cx="285750" cy="1587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111500" y="3556000"/>
                <a:ext cx="25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27000">
                    <a:moveTo>
                      <a:pt x="0" y="127000"/>
                    </a:moveTo>
                    <a:lnTo>
                      <a:pt x="95250" y="15875"/>
                    </a:lnTo>
                    <a:lnTo>
                      <a:pt x="174625" y="95250"/>
                    </a:ln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270250" y="36353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190875" y="35560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095625" y="3667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349625" y="3540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338512" y="3593306"/>
              <a:ext cx="12737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full_timeline.png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40418" y="38190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按月分组垂直时间线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5609749"/>
              <a:ext cx="4282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35000"/>
                    </a:srgbClr>
                  </a:solidFill>
                  <a:latin typeface="Segoe UI"/>
                  <a:ea typeface="Microsoft YaHei"/>
                  <a:cs typeface="Segoe UI"/>
                </a:rPr>
                <a:t>按月分组垂直时间线 · motion 交错入场动画 · RESTful 后端数据按月统计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21730" y="1806892"/>
            <a:ext cx="5208270" cy="4000977"/>
            <a:chOff x="6221730" y="1806892"/>
            <a:chExt cx="5208270" cy="4000977"/>
          </a:xfrm>
        </p:grpSpPr>
        <p:sp>
          <p:nvSpPr>
            <p:cNvPr id="23" name="TextBox 23"/>
            <p:cNvSpPr txBox="1"/>
            <p:nvPr/>
          </p:nvSpPr>
          <p:spPr>
            <a:xfrm>
              <a:off x="6221730" y="180689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周报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38875" y="2143125"/>
              <a:ext cx="5191125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38875" y="2143125"/>
              <a:ext cx="5191125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572500" y="3492500"/>
              <a:ext cx="285750" cy="263525"/>
              <a:chOff x="8572500" y="3492500"/>
              <a:chExt cx="285750" cy="2635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572500" y="361950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63000" y="355600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750" y="3492500"/>
                <a:ext cx="952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0"/>
                      <a:pt x="79375" y="254000"/>
                    </a:cubicBezTo>
                    <a:lnTo>
                      <a:pt x="15875" y="254000"/>
                    </a:lnTo>
                    <a:cubicBezTo>
                      <a:pt x="7107" y="254000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588375" y="3746500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815388" y="3593306"/>
              <a:ext cx="13487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detail_weekly.png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17292" y="38190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周报对比数字卡片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6492" y="5609749"/>
              <a:ext cx="39577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35000"/>
                    </a:srgbClr>
                  </a:solidFill>
                  <a:latin typeface="Segoe UI"/>
                  <a:ea typeface="Microsoft YaHei"/>
                  <a:cs typeface="Segoe UI"/>
                </a:rPr>
                <a:t>本周 vs 上周对比 · 状态分布 · Top 标签 · 增长趋势 · 每周自动汇总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5" name="TextBox 35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15 / 25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64669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时间线 &amp; 周报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5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416498" cy="1162050"/>
            <a:chOff x="727710" y="402431"/>
            <a:chExt cx="3416498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知识图谱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396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力导向图 · 标签共现网络 · 三层交互 · 时间轴播放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762125"/>
            <a:ext cx="6905625" cy="3143250"/>
            <a:chOff x="762000" y="1762125"/>
            <a:chExt cx="6905625" cy="3143250"/>
          </a:xfrm>
        </p:grpSpPr>
        <p:sp>
          <p:nvSpPr>
            <p:cNvPr id="10" name="Rectangle 10"/>
            <p:cNvSpPr/>
            <p:nvPr/>
          </p:nvSpPr>
          <p:spPr>
            <a:xfrm>
              <a:off x="762000" y="1762125"/>
              <a:ext cx="6905625" cy="3143250"/>
            </a:xfrm>
            <a:prstGeom prst="roundRect">
              <a:avLst>
                <a:gd name="adj" fmla="val 3636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762125"/>
              <a:ext cx="6905625" cy="3143250"/>
            </a:xfrm>
            <a:prstGeom prst="roundRect">
              <a:avLst>
                <a:gd name="adj" fmla="val 3636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3927475" y="3070225"/>
              <a:ext cx="279400" cy="279400"/>
              <a:chOff x="3927475" y="3070225"/>
              <a:chExt cx="279400" cy="279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927475" y="3070225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44475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244475" y="0"/>
                    </a:lnTo>
                    <a:cubicBezTo>
                      <a:pt x="263764" y="0"/>
                      <a:pt x="279400" y="15636"/>
                      <a:pt x="279400" y="34925"/>
                    </a:cubicBezTo>
                    <a:lnTo>
                      <a:pt x="279400" y="244475"/>
                    </a:lnTo>
                    <a:cubicBezTo>
                      <a:pt x="279400" y="263764"/>
                      <a:pt x="263764" y="279400"/>
                      <a:pt x="244475" y="279400"/>
                    </a:cubicBezTo>
                    <a:lnTo>
                      <a:pt x="34925" y="279400"/>
                    </a:lnTo>
                    <a:cubicBezTo>
                      <a:pt x="15636" y="279400"/>
                      <a:pt x="0" y="263764"/>
                      <a:pt x="0" y="2444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979862" y="3175000"/>
                <a:ext cx="1746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69850">
                    <a:moveTo>
                      <a:pt x="0" y="69850"/>
                    </a:moveTo>
                    <a:lnTo>
                      <a:pt x="52388" y="17463"/>
                    </a:lnTo>
                    <a:lnTo>
                      <a:pt x="87313" y="52388"/>
                    </a:lnTo>
                    <a:lnTo>
                      <a:pt x="139700" y="0"/>
                    </a:lnTo>
                    <a:lnTo>
                      <a:pt x="174625" y="349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4194810" y="32042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full_knowledge_graph.png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97668" y="34475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力导向图全貌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53375" y="1762125"/>
            <a:ext cx="3476625" cy="3143250"/>
            <a:chOff x="7953375" y="1762125"/>
            <a:chExt cx="3476625" cy="3143250"/>
          </a:xfrm>
        </p:grpSpPr>
        <p:grpSp>
          <p:nvGrpSpPr>
            <p:cNvPr id="24" name="Group 24"/>
            <p:cNvGrpSpPr/>
            <p:nvPr/>
          </p:nvGrpSpPr>
          <p:grpSpPr>
            <a:xfrm>
              <a:off x="7953375" y="1762125"/>
              <a:ext cx="3476625" cy="952500"/>
              <a:chOff x="7953375" y="1762125"/>
              <a:chExt cx="3476625" cy="952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953375" y="1762125"/>
                <a:ext cx="3476625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2D2A26">
                    <a:alpha val="8000"/>
                  </a:srgbClr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8215312" y="2024062"/>
                <a:ext cx="142875" cy="142875"/>
                <a:chOff x="8215312" y="2024062"/>
                <a:chExt cx="142875" cy="14287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8215312" y="2024062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55563"/>
                      </a:moveTo>
                      <a:cubicBezTo>
                        <a:pt x="0" y="86249"/>
                        <a:pt x="24876" y="111125"/>
                        <a:pt x="55563" y="111125"/>
                      </a:cubicBezTo>
                      <a:cubicBezTo>
                        <a:pt x="86249" y="111125"/>
                        <a:pt x="111125" y="86249"/>
                        <a:pt x="111125" y="55563"/>
                      </a:cubicBez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310562" y="21193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510588" y="2021681"/>
                <a:ext cx="14698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搜索高亮 + 节点筛选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180070" y="2303145"/>
                <a:ext cx="22011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搜索节点高亮标记 · 下拉筛选仅显示邻居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953375" y="2857500"/>
              <a:ext cx="3476625" cy="952500"/>
              <a:chOff x="7953375" y="2857500"/>
              <a:chExt cx="3476625" cy="952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953375" y="2857500"/>
                <a:ext cx="3476625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2D2A26">
                    <a:alpha val="8000"/>
                  </a:srgbClr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231188" y="3143250"/>
                <a:ext cx="111125" cy="95250"/>
                <a:chOff x="8231188" y="3143250"/>
                <a:chExt cx="111125" cy="9525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8231188" y="3190875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294688" y="319087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47625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294688" y="3143250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510588" y="31170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三层交互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80070" y="3398520"/>
                <a:ext cx="27892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L1 标签/分类总览 → L2 点击展开书签 → L3 详情抽屉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953375" y="3952875"/>
              <a:ext cx="3476625" cy="952500"/>
              <a:chOff x="7953375" y="3952875"/>
              <a:chExt cx="3476625" cy="9525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953375" y="3952875"/>
                <a:ext cx="3476625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2D2A26">
                    <a:alpha val="800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07431" y="4206891"/>
                <a:ext cx="158528" cy="150757"/>
              </a:xfrm>
              <a:custGeom>
                <a:avLst/>
                <a:gdLst/>
                <a:ahLst/>
                <a:cxnLst/>
                <a:rect l="l" t="t" r="r" b="b"/>
                <a:pathLst>
                  <a:path w="158528" h="150757">
                    <a:moveTo>
                      <a:pt x="79319" y="125000"/>
                    </a:moveTo>
                    <a:lnTo>
                      <a:pt x="30329" y="150757"/>
                    </a:lnTo>
                    <a:lnTo>
                      <a:pt x="39687" y="96202"/>
                    </a:lnTo>
                    <a:lnTo>
                      <a:pt x="0" y="57571"/>
                    </a:lnTo>
                    <a:lnTo>
                      <a:pt x="54769" y="49633"/>
                    </a:lnTo>
                    <a:lnTo>
                      <a:pt x="79264" y="0"/>
                    </a:lnTo>
                    <a:lnTo>
                      <a:pt x="103759" y="49633"/>
                    </a:lnTo>
                    <a:lnTo>
                      <a:pt x="158528" y="57571"/>
                    </a:lnTo>
                    <a:lnTo>
                      <a:pt x="118840" y="96202"/>
                    </a:lnTo>
                    <a:lnTo>
                      <a:pt x="128199" y="150757"/>
                    </a:lnTo>
                    <a:lnTo>
                      <a:pt x="79319" y="12500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510588" y="42124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视觉打磨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80070" y="4493895"/>
                <a:ext cx="269919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径向渐变光晕 · 暗色星空背景 · 节点大小按连接数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762000" y="5143500"/>
            <a:ext cx="3333750" cy="952500"/>
            <a:chOff x="762000" y="5143500"/>
            <a:chExt cx="3333750" cy="9525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43500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2000" y="5143500"/>
              <a:ext cx="3333750" cy="952500"/>
            </a:xfrm>
            <a:prstGeom prst="roundRect">
              <a:avLst>
                <a:gd name="adj" fmla="val 10000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2124075" y="5438775"/>
              <a:ext cx="171450" cy="114300"/>
              <a:chOff x="2124075" y="5438775"/>
              <a:chExt cx="171450" cy="1143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2190750" y="54768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124075" y="5438775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57150"/>
                    </a:moveTo>
                    <a:cubicBezTo>
                      <a:pt x="148590" y="95250"/>
                      <a:pt x="120015" y="114300"/>
                      <a:pt x="85725" y="114300"/>
                    </a:cubicBezTo>
                    <a:cubicBezTo>
                      <a:pt x="51435" y="114300"/>
                      <a:pt x="22860" y="95250"/>
                      <a:pt x="0" y="57150"/>
                    </a:cubicBezTo>
                    <a:cubicBezTo>
                      <a:pt x="22860" y="19050"/>
                      <a:pt x="51435" y="0"/>
                      <a:pt x="85725" y="0"/>
                    </a:cubicBezTo>
                    <a:cubicBezTo>
                      <a:pt x="120015" y="0"/>
                      <a:pt x="148590" y="19050"/>
                      <a:pt x="171450" y="571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2415540" y="5458778"/>
              <a:ext cx="1573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detail_graph_node.png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7445" y="5694045"/>
              <a:ext cx="1241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节点展开 · 书签子节点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33875" y="5143500"/>
            <a:ext cx="3458432" cy="952500"/>
            <a:chOff x="4333875" y="5143500"/>
            <a:chExt cx="3458432" cy="952500"/>
          </a:xfrm>
        </p:grpSpPr>
        <p:sp>
          <p:nvSpPr>
            <p:cNvPr id="47" name="Rectangle 47"/>
            <p:cNvSpPr/>
            <p:nvPr/>
          </p:nvSpPr>
          <p:spPr>
            <a:xfrm>
              <a:off x="4333875" y="5143500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333875" y="5143500"/>
              <a:ext cx="3333750" cy="952500"/>
            </a:xfrm>
            <a:prstGeom prst="roundRect">
              <a:avLst>
                <a:gd name="adj" fmla="val 10000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sp>
          <p:nvSpPr>
            <p:cNvPr id="49" name="Freeform 49"/>
            <p:cNvSpPr/>
            <p:nvPr/>
          </p:nvSpPr>
          <p:spPr>
            <a:xfrm>
              <a:off x="5734050" y="5419725"/>
              <a:ext cx="123825" cy="152400"/>
            </a:xfrm>
            <a:custGeom>
              <a:avLst/>
              <a:gdLst/>
              <a:ahLst/>
              <a:cxnLst/>
              <a:rect l="l" t="t" r="r" b="b"/>
              <a:pathLst>
                <a:path w="123825" h="152400">
                  <a:moveTo>
                    <a:pt x="0" y="0"/>
                  </a:moveTo>
                  <a:lnTo>
                    <a:pt x="0" y="152400"/>
                  </a:lnTo>
                  <a:lnTo>
                    <a:pt x="123825" y="7620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87415" y="5458778"/>
              <a:ext cx="1804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detail_graph_timeline.png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89320" y="569404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时间轴播放控件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905750" y="5143500"/>
            <a:ext cx="3524250" cy="952500"/>
            <a:chOff x="7905750" y="5143500"/>
            <a:chExt cx="3524250" cy="952500"/>
          </a:xfrm>
        </p:grpSpPr>
        <p:sp>
          <p:nvSpPr>
            <p:cNvPr id="53" name="Rectangle 53"/>
            <p:cNvSpPr/>
            <p:nvPr/>
          </p:nvSpPr>
          <p:spPr>
            <a:xfrm>
              <a:off x="7905750" y="5143500"/>
              <a:ext cx="3524250" cy="952500"/>
            </a:xfrm>
            <a:prstGeom prst="roundRect">
              <a:avLst>
                <a:gd name="adj" fmla="val 8000"/>
              </a:avLst>
            </a:prstGeom>
            <a:solidFill>
              <a:srgbClr val="C9866B">
                <a:alpha val="4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31492" y="53049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9866B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技术亮点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32445" y="5570220"/>
              <a:ext cx="24351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防闪烁架构：全量节点预加载+visibility 控制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32445" y="5789295"/>
              <a:ext cx="2513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时间轴滑块+1x/2x/5x 播放速度+截图导出 PNG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58" name="TextBox 58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16 / 25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知识图谱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8" grpId="0"/>
      <p:bldP spid="46" grpId="0"/>
      <p:bldP spid="52" grpId="0"/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4076580" cy="1162050"/>
            <a:chOff x="727710" y="402431"/>
            <a:chExt cx="4076580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横向对比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40565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选 2-5 篇书签 → AI 五维度深度对比 → 雷达图 + 矩阵表格分析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4855" y="1806892"/>
            <a:ext cx="5208270" cy="3574733"/>
            <a:chOff x="744855" y="1806892"/>
            <a:chExt cx="5208270" cy="3574733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8068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对比结果视图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143125"/>
              <a:ext cx="5191125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143125"/>
              <a:ext cx="5191125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111500" y="3476625"/>
              <a:ext cx="254000" cy="285750"/>
              <a:chOff x="3111500" y="3476625"/>
              <a:chExt cx="254000" cy="2857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111500" y="34925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302000" y="3683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222625" y="3524250"/>
                <a:ext cx="1111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58750">
                    <a:moveTo>
                      <a:pt x="0" y="0"/>
                    </a:moveTo>
                    <a:lnTo>
                      <a:pt x="79375" y="0"/>
                    </a:lnTo>
                    <a:cubicBezTo>
                      <a:pt x="96910" y="0"/>
                      <a:pt x="111125" y="14215"/>
                      <a:pt x="111125" y="31750"/>
                    </a:cubicBezTo>
                    <a:lnTo>
                      <a:pt x="111125" y="15875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222625" y="3476625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47625" y="95250"/>
                    </a:moveTo>
                    <a:lnTo>
                      <a:pt x="0" y="47625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143250" y="3556000"/>
                <a:ext cx="1111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58750">
                    <a:moveTo>
                      <a:pt x="111125" y="158750"/>
                    </a:moveTo>
                    <a:lnTo>
                      <a:pt x="31750" y="158750"/>
                    </a:lnTo>
                    <a:cubicBezTo>
                      <a:pt x="14215" y="158750"/>
                      <a:pt x="0" y="144535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206750" y="3667125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0"/>
                    </a:moveTo>
                    <a:lnTo>
                      <a:pt x="47625" y="47625"/>
                    </a:ln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338512" y="3593306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full_compare.png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40418" y="38190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全页对比视图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21730" y="1806892"/>
            <a:ext cx="5208270" cy="3574733"/>
            <a:chOff x="6221730" y="1806892"/>
            <a:chExt cx="5208270" cy="3574733"/>
          </a:xfrm>
        </p:grpSpPr>
        <p:sp>
          <p:nvSpPr>
            <p:cNvPr id="23" name="TextBox 23"/>
            <p:cNvSpPr txBox="1"/>
            <p:nvPr/>
          </p:nvSpPr>
          <p:spPr>
            <a:xfrm>
              <a:off x="6221730" y="18068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雷达图特写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38875" y="2143125"/>
              <a:ext cx="5191125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38875" y="2143125"/>
              <a:ext cx="5191125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568075" y="3479355"/>
              <a:ext cx="287000" cy="287445"/>
              <a:chOff x="8568075" y="3479355"/>
              <a:chExt cx="287000" cy="28744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568075" y="3479355"/>
                <a:ext cx="287000" cy="287445"/>
              </a:xfrm>
              <a:custGeom>
                <a:avLst/>
                <a:gdLst/>
                <a:ahLst/>
                <a:cxnLst/>
                <a:rect l="l" t="t" r="r" b="b"/>
                <a:pathLst>
                  <a:path w="287000" h="287445">
                    <a:moveTo>
                      <a:pt x="115550" y="445"/>
                    </a:moveTo>
                    <a:cubicBezTo>
                      <a:pt x="46812" y="16380"/>
                      <a:pt x="0" y="80110"/>
                      <a:pt x="5353" y="150468"/>
                    </a:cubicBezTo>
                    <a:cubicBezTo>
                      <a:pt x="10706" y="220826"/>
                      <a:pt x="66620" y="276740"/>
                      <a:pt x="136978" y="282092"/>
                    </a:cubicBezTo>
                    <a:cubicBezTo>
                      <a:pt x="207336" y="287445"/>
                      <a:pt x="271065" y="240634"/>
                      <a:pt x="287000" y="171895"/>
                    </a:cubicBezTo>
                    <a:cubicBezTo>
                      <a:pt x="287000" y="163128"/>
                      <a:pt x="279893" y="156020"/>
                      <a:pt x="271125" y="156020"/>
                    </a:cubicBezTo>
                    <a:lnTo>
                      <a:pt x="163175" y="156020"/>
                    </a:lnTo>
                    <a:cubicBezTo>
                      <a:pt x="145640" y="156020"/>
                      <a:pt x="131425" y="141805"/>
                      <a:pt x="131425" y="124270"/>
                    </a:cubicBezTo>
                    <a:lnTo>
                      <a:pt x="131425" y="13145"/>
                    </a:lnTo>
                    <a:cubicBezTo>
                      <a:pt x="131027" y="9346"/>
                      <a:pt x="129124" y="5865"/>
                      <a:pt x="126141" y="3479"/>
                    </a:cubicBezTo>
                    <a:cubicBezTo>
                      <a:pt x="123158" y="1092"/>
                      <a:pt x="119344" y="0"/>
                      <a:pt x="115550" y="44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63000" y="3484562"/>
                <a:ext cx="87312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3">
                    <a:moveTo>
                      <a:pt x="0" y="0"/>
                    </a:moveTo>
                    <a:cubicBezTo>
                      <a:pt x="40827" y="14376"/>
                      <a:pt x="72937" y="46485"/>
                      <a:pt x="87312" y="87313"/>
                    </a:cubicBezTo>
                    <a:lnTo>
                      <a:pt x="15875" y="87313"/>
                    </a:lnTo>
                    <a:cubicBezTo>
                      <a:pt x="7107" y="87313"/>
                      <a:pt x="0" y="80205"/>
                      <a:pt x="0" y="71438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815388" y="3593306"/>
              <a:ext cx="12737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detail_radar.png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17292" y="38190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五维度雷达图特写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5619750"/>
            <a:ext cx="10668000" cy="571500"/>
            <a:chOff x="762000" y="5619750"/>
            <a:chExt cx="10668000" cy="571500"/>
          </a:xfrm>
        </p:grpSpPr>
        <p:grpSp>
          <p:nvGrpSpPr>
            <p:cNvPr id="35" name="Group 35"/>
            <p:cNvGrpSpPr/>
            <p:nvPr/>
          </p:nvGrpSpPr>
          <p:grpSpPr>
            <a:xfrm>
              <a:off x="762000" y="5619750"/>
              <a:ext cx="2571750" cy="571500"/>
              <a:chOff x="762000" y="5619750"/>
              <a:chExt cx="2571750" cy="571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62000" y="5619750"/>
                <a:ext cx="2571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40118" y="5733574"/>
                <a:ext cx="14874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选择 2-5 篇书签同时对比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42022" y="5959316"/>
                <a:ext cx="118160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同主题/跨领域自由选择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524250" y="5619750"/>
              <a:ext cx="2571750" cy="571500"/>
              <a:chOff x="3524250" y="5619750"/>
              <a:chExt cx="2571750" cy="571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3524250" y="5619750"/>
                <a:ext cx="2571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702368" y="5733574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AI 五维度深度评分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704272" y="5959316"/>
                <a:ext cx="15501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V4 Flash 多维度分析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286500" y="5619750"/>
              <a:ext cx="2571750" cy="571500"/>
              <a:chOff x="6286500" y="5619750"/>
              <a:chExt cx="2571750" cy="571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286500" y="5619750"/>
                <a:ext cx="2571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464618" y="5733574"/>
                <a:ext cx="20075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矩阵表差异高亮 + Markdown 导出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6522" y="5959316"/>
                <a:ext cx="130811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红/黄差异标记 · 评语总结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9048750" y="5619750"/>
              <a:ext cx="2381250" cy="571500"/>
              <a:chOff x="9048750" y="5619750"/>
              <a:chExt cx="2381250" cy="571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9048750" y="5619750"/>
                <a:ext cx="23812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226868" y="5752624"/>
                <a:ext cx="13509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Recharts RadarChart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228772" y="5987891"/>
                <a:ext cx="112109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内置依赖，无额外安装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9" name="TextBox 49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17 / 25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横向对比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288982" cy="1162050"/>
            <a:chOff x="727710" y="402431"/>
            <a:chExt cx="3288982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学习路径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2689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结构化学习计划 · 书签编排 · 进度追踪 · AI 分析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0575" y="2025968"/>
            <a:ext cx="4825317" cy="3360420"/>
            <a:chOff x="790575" y="2025968"/>
            <a:chExt cx="4825317" cy="3360420"/>
          </a:xfrm>
        </p:grpSpPr>
        <p:grpSp>
          <p:nvGrpSpPr>
            <p:cNvPr id="15" name="Group 15"/>
            <p:cNvGrpSpPr/>
            <p:nvPr/>
          </p:nvGrpSpPr>
          <p:grpSpPr>
            <a:xfrm>
              <a:off x="809625" y="2025968"/>
              <a:ext cx="4806267" cy="502920"/>
              <a:chOff x="809625" y="2025968"/>
              <a:chExt cx="4806267" cy="502920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809625" y="2047875"/>
                <a:ext cx="133350" cy="133350"/>
                <a:chOff x="809625" y="2047875"/>
                <a:chExt cx="133350" cy="1333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76300" y="2047875"/>
                  <a:ext cx="95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3350">
                      <a:moveTo>
                        <a:pt x="0" y="0"/>
                      </a:moveTo>
                      <a:lnTo>
                        <a:pt x="0" y="1333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09625" y="2114550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125855" y="20259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创建 &amp; 编排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29665" y="2315528"/>
                <a:ext cx="44862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Quick-create 学习路径 · Reorder 拖拽编排书签顺序 · 难度/阶段标注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90575" y="2978468"/>
              <a:ext cx="3509153" cy="502920"/>
              <a:chOff x="790575" y="2978468"/>
              <a:chExt cx="3509153" cy="502920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790575" y="2990850"/>
                <a:ext cx="171450" cy="161925"/>
                <a:chOff x="790575" y="2990850"/>
                <a:chExt cx="171450" cy="161925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790575" y="306705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04875" y="3028950"/>
                  <a:ext cx="571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143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104775"/>
                      </a:lnTo>
                      <a:cubicBezTo>
                        <a:pt x="57150" y="110036"/>
                        <a:pt x="52886" y="114300"/>
                        <a:pt x="47625" y="114300"/>
                      </a:cubicBezTo>
                      <a:lnTo>
                        <a:pt x="9525" y="114300"/>
                      </a:lnTo>
                      <a:cubicBezTo>
                        <a:pt x="4264" y="114300"/>
                        <a:pt x="0" y="110036"/>
                        <a:pt x="0" y="1047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847725" y="2990850"/>
                  <a:ext cx="5715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524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142875"/>
                      </a:lnTo>
                      <a:cubicBezTo>
                        <a:pt x="57150" y="148136"/>
                        <a:pt x="52886" y="152400"/>
                        <a:pt x="47625" y="152400"/>
                      </a:cubicBezTo>
                      <a:lnTo>
                        <a:pt x="9525" y="152400"/>
                      </a:lnTo>
                      <a:cubicBezTo>
                        <a:pt x="4264" y="152400"/>
                        <a:pt x="0" y="148136"/>
                        <a:pt x="0" y="1428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800100" y="3143250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125855" y="29784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进度追踪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9665" y="3268028"/>
                <a:ext cx="31700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完成勾选 · 进度条 · 总览仪表板 · 学习状态可视化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" y="3930968"/>
              <a:ext cx="3938159" cy="502920"/>
              <a:chOff x="809625" y="3930968"/>
              <a:chExt cx="3938159" cy="502920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809625" y="3933825"/>
                <a:ext cx="133350" cy="171450"/>
                <a:chOff x="809625" y="3933825"/>
                <a:chExt cx="133350" cy="17145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895350" y="393382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09625" y="393382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125855" y="39309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微型笔记链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29665" y="4220528"/>
                <a:ext cx="36181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PathNote — 每个路径节点可添加收获/疑问/行动计划笔记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90575" y="4883468"/>
              <a:ext cx="4139232" cy="502920"/>
              <a:chOff x="790575" y="4883468"/>
              <a:chExt cx="4139232" cy="502920"/>
            </a:xfrm>
          </p:grpSpPr>
          <p:grpSp>
            <p:nvGrpSpPr>
              <p:cNvPr id="36" name="Group 36"/>
              <p:cNvGrpSpPr/>
              <p:nvPr/>
            </p:nvGrpSpPr>
            <p:grpSpPr>
              <a:xfrm>
                <a:off x="790575" y="4886325"/>
                <a:ext cx="171450" cy="171450"/>
                <a:chOff x="790575" y="4886325"/>
                <a:chExt cx="171450" cy="1714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76300" y="498157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14926" y="0"/>
                        <a:pt x="0" y="14926"/>
                        <a:pt x="0" y="33338"/>
                      </a:cubicBezTo>
                      <a:lnTo>
                        <a:pt x="0" y="42862"/>
                      </a:lnTo>
                      <a:cubicBezTo>
                        <a:pt x="0" y="61274"/>
                        <a:pt x="14926" y="76200"/>
                        <a:pt x="33338" y="76200"/>
                      </a:cubicBezTo>
                      <a:cubicBezTo>
                        <a:pt x="51749" y="76200"/>
                        <a:pt x="66675" y="61274"/>
                        <a:pt x="66675" y="42862"/>
                      </a:cubicBezTo>
                      <a:lnTo>
                        <a:pt x="66675" y="25718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09625" y="498157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42862"/>
                      </a:lnTo>
                      <a:cubicBezTo>
                        <a:pt x="66675" y="61274"/>
                        <a:pt x="51749" y="76200"/>
                        <a:pt x="33338" y="76200"/>
                      </a:cubicBezTo>
                      <a:cubicBezTo>
                        <a:pt x="14926" y="76200"/>
                        <a:pt x="0" y="61274"/>
                        <a:pt x="0" y="42862"/>
                      </a:cubicBezTo>
                      <a:lnTo>
                        <a:pt x="0" y="25718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923925" y="494347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4762" y="66675"/>
                      </a:moveTo>
                      <a:cubicBezTo>
                        <a:pt x="23174" y="66675"/>
                        <a:pt x="38100" y="51749"/>
                        <a:pt x="38100" y="33338"/>
                      </a:cubicBezTo>
                      <a:cubicBezTo>
                        <a:pt x="38100" y="14926"/>
                        <a:pt x="23174" y="0"/>
                        <a:pt x="4762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76300" y="4886325"/>
                  <a:ext cx="66675" cy="60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0007">
                      <a:moveTo>
                        <a:pt x="66675" y="60007"/>
                      </a:moveTo>
                      <a:lnTo>
                        <a:pt x="66675" y="33338"/>
                      </a:ln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90575" y="494347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33338" y="66675"/>
                      </a:moveTo>
                      <a:cubicBezTo>
                        <a:pt x="14926" y="66675"/>
                        <a:pt x="0" y="51749"/>
                        <a:pt x="0" y="33338"/>
                      </a:cubicBez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09625" y="4886325"/>
                  <a:ext cx="666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28588">
                      <a:moveTo>
                        <a:pt x="0" y="60007"/>
                      </a:move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128588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1125855" y="48834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AI 路径分析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5173028"/>
                <a:ext cx="38001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骨架生成 + 知识缺口检测 + Markdown 导出 · 10 个 API 端点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41" name="Rectangle 41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sp>
          <p:nvSpPr>
            <p:cNvPr id="43" name="Freeform 43"/>
            <p:cNvSpPr/>
            <p:nvPr/>
          </p:nvSpPr>
          <p:spPr>
            <a:xfrm>
              <a:off x="8429625" y="36671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5875" y="63500"/>
                  </a:moveTo>
                  <a:lnTo>
                    <a:pt x="63500" y="63500"/>
                  </a:lnTo>
                  <a:cubicBezTo>
                    <a:pt x="72268" y="63500"/>
                    <a:pt x="79375" y="56393"/>
                    <a:pt x="79375" y="47625"/>
                  </a:cubicBezTo>
                  <a:lnTo>
                    <a:pt x="79375" y="31750"/>
                  </a:lnTo>
                  <a:cubicBezTo>
                    <a:pt x="79375" y="14215"/>
                    <a:pt x="93590" y="0"/>
                    <a:pt x="111125" y="0"/>
                  </a:cubicBezTo>
                  <a:cubicBezTo>
                    <a:pt x="128660" y="0"/>
                    <a:pt x="142875" y="14215"/>
                    <a:pt x="142875" y="31750"/>
                  </a:cubicBezTo>
                  <a:lnTo>
                    <a:pt x="142875" y="47625"/>
                  </a:lnTo>
                  <a:cubicBezTo>
                    <a:pt x="142875" y="56393"/>
                    <a:pt x="149982" y="63500"/>
                    <a:pt x="158750" y="63500"/>
                  </a:cubicBezTo>
                  <a:lnTo>
                    <a:pt x="206375" y="63500"/>
                  </a:lnTo>
                  <a:cubicBezTo>
                    <a:pt x="215143" y="63500"/>
                    <a:pt x="222250" y="70607"/>
                    <a:pt x="222250" y="79375"/>
                  </a:cubicBezTo>
                  <a:lnTo>
                    <a:pt x="222250" y="127000"/>
                  </a:lnTo>
                  <a:cubicBezTo>
                    <a:pt x="222250" y="135768"/>
                    <a:pt x="229357" y="142875"/>
                    <a:pt x="238125" y="142875"/>
                  </a:cubicBezTo>
                  <a:lnTo>
                    <a:pt x="254000" y="142875"/>
                  </a:lnTo>
                  <a:cubicBezTo>
                    <a:pt x="271535" y="142875"/>
                    <a:pt x="285750" y="157090"/>
                    <a:pt x="285750" y="174625"/>
                  </a:cubicBezTo>
                  <a:cubicBezTo>
                    <a:pt x="285750" y="192160"/>
                    <a:pt x="271535" y="206375"/>
                    <a:pt x="254000" y="206375"/>
                  </a:cubicBezTo>
                  <a:lnTo>
                    <a:pt x="238125" y="206375"/>
                  </a:lnTo>
                  <a:cubicBezTo>
                    <a:pt x="229357" y="206375"/>
                    <a:pt x="222250" y="213482"/>
                    <a:pt x="222250" y="222250"/>
                  </a:cubicBezTo>
                  <a:lnTo>
                    <a:pt x="222250" y="269875"/>
                  </a:lnTo>
                  <a:cubicBezTo>
                    <a:pt x="222250" y="278643"/>
                    <a:pt x="215143" y="285750"/>
                    <a:pt x="206375" y="285750"/>
                  </a:cubicBezTo>
                  <a:lnTo>
                    <a:pt x="158750" y="285750"/>
                  </a:lnTo>
                  <a:cubicBezTo>
                    <a:pt x="149982" y="285750"/>
                    <a:pt x="142875" y="278643"/>
                    <a:pt x="142875" y="269875"/>
                  </a:cubicBezTo>
                  <a:lnTo>
                    <a:pt x="142875" y="254000"/>
                  </a:lnTo>
                  <a:cubicBezTo>
                    <a:pt x="142875" y="236465"/>
                    <a:pt x="128660" y="222250"/>
                    <a:pt x="111125" y="222250"/>
                  </a:cubicBezTo>
                  <a:cubicBezTo>
                    <a:pt x="93590" y="222250"/>
                    <a:pt x="79375" y="236465"/>
                    <a:pt x="79375" y="254000"/>
                  </a:cubicBezTo>
                  <a:lnTo>
                    <a:pt x="79375" y="269875"/>
                  </a:lnTo>
                  <a:cubicBezTo>
                    <a:pt x="79375" y="278643"/>
                    <a:pt x="72268" y="285750"/>
                    <a:pt x="63500" y="285750"/>
                  </a:cubicBezTo>
                  <a:lnTo>
                    <a:pt x="15875" y="285750"/>
                  </a:lnTo>
                  <a:cubicBezTo>
                    <a:pt x="7107" y="285750"/>
                    <a:pt x="0" y="278643"/>
                    <a:pt x="0" y="269875"/>
                  </a:cubicBezTo>
                  <a:lnTo>
                    <a:pt x="0" y="222250"/>
                  </a:lnTo>
                  <a:cubicBezTo>
                    <a:pt x="0" y="213482"/>
                    <a:pt x="7107" y="206375"/>
                    <a:pt x="15875" y="206375"/>
                  </a:cubicBezTo>
                  <a:lnTo>
                    <a:pt x="31750" y="206375"/>
                  </a:lnTo>
                  <a:cubicBezTo>
                    <a:pt x="49285" y="206375"/>
                    <a:pt x="63500" y="192160"/>
                    <a:pt x="63500" y="174625"/>
                  </a:cubicBezTo>
                  <a:cubicBezTo>
                    <a:pt x="63500" y="157090"/>
                    <a:pt x="49285" y="142875"/>
                    <a:pt x="31750" y="142875"/>
                  </a:cubicBezTo>
                  <a:lnTo>
                    <a:pt x="15875" y="142875"/>
                  </a:lnTo>
                  <a:cubicBezTo>
                    <a:pt x="7107" y="142875"/>
                    <a:pt x="0" y="135768"/>
                    <a:pt x="0" y="127000"/>
                  </a:cubicBezTo>
                  <a:lnTo>
                    <a:pt x="0" y="79375"/>
                  </a:lnTo>
                  <a:cubicBezTo>
                    <a:pt x="0" y="70607"/>
                    <a:pt x="7107" y="63500"/>
                    <a:pt x="15875" y="6350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47760" y="3728085"/>
              <a:ext cx="19827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detail_learning_path.png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50618" y="3971449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学习路径路线图 + 进度条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7" name="TextBox 47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18 / 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学习路径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393995" cy="1162050"/>
            <a:chOff x="727710" y="402431"/>
            <a:chExt cx="3393995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31496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发现页 &amp; 关联推荐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3739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三模式发现 + 三层推荐体系 — 让好书签自己找到你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90575" y="1924050"/>
            <a:ext cx="4685300" cy="3509962"/>
            <a:chOff x="790575" y="1924050"/>
            <a:chExt cx="4685300" cy="3509962"/>
          </a:xfrm>
        </p:grpSpPr>
        <p:grpSp>
          <p:nvGrpSpPr>
            <p:cNvPr id="17" name="Group 17"/>
            <p:cNvGrpSpPr/>
            <p:nvPr/>
          </p:nvGrpSpPr>
          <p:grpSpPr>
            <a:xfrm>
              <a:off x="816769" y="1924050"/>
              <a:ext cx="3482959" cy="509588"/>
              <a:chOff x="816769" y="1924050"/>
              <a:chExt cx="3482959" cy="509588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816769" y="1924050"/>
                <a:ext cx="128072" cy="190500"/>
                <a:chOff x="816769" y="1924050"/>
                <a:chExt cx="128072" cy="1905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28675" y="195262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16769" y="1924050"/>
                  <a:ext cx="128072" cy="147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72" h="147824">
                      <a:moveTo>
                        <a:pt x="0" y="123825"/>
                      </a:moveTo>
                      <a:cubicBezTo>
                        <a:pt x="21926" y="142870"/>
                        <a:pt x="52758" y="147824"/>
                        <a:pt x="79547" y="136608"/>
                      </a:cubicBezTo>
                      <a:cubicBezTo>
                        <a:pt x="106335" y="125392"/>
                        <a:pt x="124440" y="99948"/>
                        <a:pt x="126256" y="70963"/>
                      </a:cubicBezTo>
                      <a:cubicBezTo>
                        <a:pt x="128072" y="41978"/>
                        <a:pt x="113285" y="14472"/>
                        <a:pt x="88106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66775" y="20669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28675" y="210502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25855" y="19307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三模式发现页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29665" y="2220278"/>
                <a:ext cx="31700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跨领域探索 · 最新收录 · 每日精选 — 三种维度切换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90575" y="2930842"/>
              <a:ext cx="3831193" cy="502920"/>
              <a:chOff x="790575" y="2930842"/>
              <a:chExt cx="3831193" cy="502920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790575" y="2933700"/>
                <a:ext cx="173707" cy="173707"/>
                <a:chOff x="790575" y="2933700"/>
                <a:chExt cx="173707" cy="173707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823912" y="2967038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90575" y="2933700"/>
                  <a:ext cx="173707" cy="173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707" h="173707">
                      <a:moveTo>
                        <a:pt x="0" y="28575"/>
                      </a:moveTo>
                      <a:lnTo>
                        <a:pt x="0" y="77838"/>
                      </a:lnTo>
                      <a:cubicBezTo>
                        <a:pt x="1" y="82890"/>
                        <a:pt x="2009" y="87735"/>
                        <a:pt x="5582" y="91307"/>
                      </a:cubicBezTo>
                      <a:lnTo>
                        <a:pt x="79019" y="164744"/>
                      </a:lnTo>
                      <a:cubicBezTo>
                        <a:pt x="87984" y="173707"/>
                        <a:pt x="102516" y="173707"/>
                        <a:pt x="111481" y="164744"/>
                      </a:cubicBezTo>
                      <a:lnTo>
                        <a:pt x="164744" y="111481"/>
                      </a:lnTo>
                      <a:cubicBezTo>
                        <a:pt x="173707" y="102516"/>
                        <a:pt x="173707" y="87984"/>
                        <a:pt x="164744" y="79019"/>
                      </a:cubicBezTo>
                      <a:lnTo>
                        <a:pt x="91307" y="5582"/>
                      </a:lnTo>
                      <a:cubicBezTo>
                        <a:pt x="87735" y="2009"/>
                        <a:pt x="82890" y="1"/>
                        <a:pt x="77838" y="0"/>
                      </a:cubicBezTo>
                      <a:lnTo>
                        <a:pt x="28575" y="0"/>
                      </a:lnTo>
                      <a:cubicBezTo>
                        <a:pt x="20996" y="0"/>
                        <a:pt x="13728" y="3011"/>
                        <a:pt x="8369" y="8369"/>
                      </a:cubicBezTo>
                      <a:cubicBezTo>
                        <a:pt x="3011" y="13728"/>
                        <a:pt x="0" y="20996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125855" y="2930842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第一层：标签共现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9665" y="3220402"/>
                <a:ext cx="34921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Jaccard 相似度算法 · 免 AI · 毫秒级延迟 · 同分类降级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00100" y="3930968"/>
              <a:ext cx="4675775" cy="502920"/>
              <a:chOff x="800100" y="3930968"/>
              <a:chExt cx="4675775" cy="502920"/>
            </a:xfrm>
          </p:grpSpPr>
          <p:grpSp>
            <p:nvGrpSpPr>
              <p:cNvPr id="27" name="Group 27"/>
              <p:cNvGrpSpPr/>
              <p:nvPr/>
            </p:nvGrpSpPr>
            <p:grpSpPr>
              <a:xfrm>
                <a:off x="800100" y="3933825"/>
                <a:ext cx="152400" cy="171450"/>
                <a:chOff x="800100" y="3933825"/>
                <a:chExt cx="152400" cy="17145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800100" y="3933825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00100" y="3962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00100" y="40195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125855" y="3930968"/>
                <a:ext cx="19245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第二层：语义向量精排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29665" y="4220528"/>
                <a:ext cx="43462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Embedding API · 余弦相似度 · 标签40%+语义60%混合评分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00100" y="4931092"/>
              <a:ext cx="3779663" cy="502920"/>
              <a:chOff x="800100" y="4931092"/>
              <a:chExt cx="3779663" cy="502920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800100" y="4943475"/>
                <a:ext cx="152400" cy="152400"/>
                <a:chOff x="800100" y="4943475"/>
                <a:chExt cx="152400" cy="1524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800100" y="494347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00100" y="50577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95350" y="501967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95350" y="49434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125855" y="4931092"/>
                <a:ext cx="234982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第三层：Dashboard 个性化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9665" y="5220652"/>
                <a:ext cx="34500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继续深入 · 拓展边界 · 重温旧藏 — 三维度智能推荐卡片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40" name="Rectangle 40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473281" y="3651250"/>
              <a:ext cx="213454" cy="311150"/>
              <a:chOff x="8473281" y="3651250"/>
              <a:chExt cx="213454" cy="3111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493125" y="36988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473281" y="3651250"/>
                <a:ext cx="213454" cy="246374"/>
              </a:xfrm>
              <a:custGeom>
                <a:avLst/>
                <a:gdLst/>
                <a:ahLst/>
                <a:cxnLst/>
                <a:rect l="l" t="t" r="r" b="b"/>
                <a:pathLst>
                  <a:path w="213454" h="246374">
                    <a:moveTo>
                      <a:pt x="0" y="206375"/>
                    </a:moveTo>
                    <a:cubicBezTo>
                      <a:pt x="36543" y="238116"/>
                      <a:pt x="87930" y="246374"/>
                      <a:pt x="132578" y="227680"/>
                    </a:cubicBezTo>
                    <a:cubicBezTo>
                      <a:pt x="177226" y="208987"/>
                      <a:pt x="207400" y="166579"/>
                      <a:pt x="210427" y="118271"/>
                    </a:cubicBezTo>
                    <a:cubicBezTo>
                      <a:pt x="213454" y="69963"/>
                      <a:pt x="188809" y="24121"/>
                      <a:pt x="146844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56625" y="38893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493125" y="395287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747760" y="3728085"/>
              <a:ext cx="1582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detail_discover.png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50618" y="3971449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发现页 · 推荐卡片视图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50" name="TextBox 50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19 / 25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9618" y="64669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发现页 &amp; 推荐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4339113" cy="1162050"/>
            <a:chOff x="727710" y="402431"/>
            <a:chExt cx="4339113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生态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浏览器扩展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43191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不离开浏览器就能完成一切 — 右键收藏 · 快捷键 · 弹窗 · 侧边栏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0575" y="2025968"/>
            <a:ext cx="4020217" cy="3503294"/>
            <a:chOff x="790575" y="2025968"/>
            <a:chExt cx="4020217" cy="3503294"/>
          </a:xfrm>
        </p:grpSpPr>
        <p:grpSp>
          <p:nvGrpSpPr>
            <p:cNvPr id="15" name="Group 15"/>
            <p:cNvGrpSpPr/>
            <p:nvPr/>
          </p:nvGrpSpPr>
          <p:grpSpPr>
            <a:xfrm>
              <a:off x="819150" y="2025968"/>
              <a:ext cx="3606594" cy="502920"/>
              <a:chOff x="819150" y="2025968"/>
              <a:chExt cx="3606594" cy="502920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819150" y="2028825"/>
                <a:ext cx="114300" cy="171450"/>
                <a:chOff x="819150" y="2028825"/>
                <a:chExt cx="11430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19150" y="2028825"/>
                  <a:ext cx="1143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7145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76200" y="0"/>
                      </a:lnTo>
                      <a:cubicBezTo>
                        <a:pt x="97242" y="0"/>
                        <a:pt x="114300" y="17058"/>
                        <a:pt x="114300" y="38100"/>
                      </a:cubicBezTo>
                      <a:lnTo>
                        <a:pt x="114300" y="133350"/>
                      </a:lnTo>
                      <a:cubicBezTo>
                        <a:pt x="114300" y="154392"/>
                        <a:pt x="97242" y="171450"/>
                        <a:pt x="76200" y="171450"/>
                      </a:cubicBezTo>
                      <a:lnTo>
                        <a:pt x="38100" y="171450"/>
                      </a:lnTo>
                      <a:cubicBezTo>
                        <a:pt x="17058" y="171450"/>
                        <a:pt x="0" y="154392"/>
                        <a:pt x="0" y="13335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76300" y="20669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125855" y="2025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右键菜单收藏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29665" y="2315528"/>
                <a:ext cx="32960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在任意网页上右键，一键将当前页面保存到 MarkBox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09625" y="3026092"/>
              <a:ext cx="4001167" cy="502920"/>
              <a:chOff x="809625" y="3026092"/>
              <a:chExt cx="4001167" cy="50292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809625" y="3067050"/>
                <a:ext cx="133350" cy="123825"/>
                <a:chOff x="809625" y="3067050"/>
                <a:chExt cx="133350" cy="123825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809625" y="3067050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0" y="0"/>
                      </a:moveTo>
                      <a:lnTo>
                        <a:pt x="47625" y="47625"/>
                      </a:ln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876300" y="3181350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125855" y="3026092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快捷键静默收藏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29665" y="3315652"/>
                <a:ext cx="36811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Ctrl+Shift+S，不中断浏览，后台静默保存，通知栏轻提示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0100" y="4026218"/>
              <a:ext cx="3961686" cy="502920"/>
              <a:chOff x="800100" y="4026218"/>
              <a:chExt cx="3961686" cy="502920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800100" y="4038600"/>
                <a:ext cx="152400" cy="152400"/>
                <a:chOff x="800100" y="4038600"/>
                <a:chExt cx="152400" cy="1524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800100" y="403860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800100" y="415290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95350" y="411480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95350" y="403860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125855" y="40262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弹窗完整流程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29665" y="4315778"/>
                <a:ext cx="36321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去重检测 · AI 分类建议 · 状态选择 · 标签预览 · 确认入库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90575" y="5026342"/>
              <a:ext cx="3726180" cy="502920"/>
              <a:chOff x="790575" y="5026342"/>
              <a:chExt cx="3726180" cy="502920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790575" y="5029200"/>
                <a:ext cx="171450" cy="171450"/>
                <a:chOff x="790575" y="5029200"/>
                <a:chExt cx="171450" cy="1714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90575" y="50292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04875" y="5143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125855" y="502634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侧边栏浏览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29665" y="5315902"/>
                <a:ext cx="33870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在浏览器侧边栏浏览、搜索最近书签，不离开当前页面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37" name="Rectangle 37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sp>
          <p:nvSpPr>
            <p:cNvPr id="39" name="Freeform 39"/>
            <p:cNvSpPr/>
            <p:nvPr/>
          </p:nvSpPr>
          <p:spPr>
            <a:xfrm>
              <a:off x="8429625" y="36671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5875" y="63500"/>
                  </a:moveTo>
                  <a:lnTo>
                    <a:pt x="63500" y="63500"/>
                  </a:lnTo>
                  <a:cubicBezTo>
                    <a:pt x="72268" y="63500"/>
                    <a:pt x="79375" y="56393"/>
                    <a:pt x="79375" y="47625"/>
                  </a:cubicBezTo>
                  <a:lnTo>
                    <a:pt x="79375" y="31750"/>
                  </a:lnTo>
                  <a:cubicBezTo>
                    <a:pt x="79375" y="14215"/>
                    <a:pt x="93590" y="0"/>
                    <a:pt x="111125" y="0"/>
                  </a:cubicBezTo>
                  <a:cubicBezTo>
                    <a:pt x="128660" y="0"/>
                    <a:pt x="142875" y="14215"/>
                    <a:pt x="142875" y="31750"/>
                  </a:cubicBezTo>
                  <a:lnTo>
                    <a:pt x="142875" y="47625"/>
                  </a:lnTo>
                  <a:cubicBezTo>
                    <a:pt x="142875" y="56393"/>
                    <a:pt x="149982" y="63500"/>
                    <a:pt x="158750" y="63500"/>
                  </a:cubicBezTo>
                  <a:lnTo>
                    <a:pt x="206375" y="63500"/>
                  </a:lnTo>
                  <a:cubicBezTo>
                    <a:pt x="215143" y="63500"/>
                    <a:pt x="222250" y="70607"/>
                    <a:pt x="222250" y="79375"/>
                  </a:cubicBezTo>
                  <a:lnTo>
                    <a:pt x="222250" y="127000"/>
                  </a:lnTo>
                  <a:cubicBezTo>
                    <a:pt x="222250" y="135768"/>
                    <a:pt x="229357" y="142875"/>
                    <a:pt x="238125" y="142875"/>
                  </a:cubicBezTo>
                  <a:lnTo>
                    <a:pt x="254000" y="142875"/>
                  </a:lnTo>
                  <a:cubicBezTo>
                    <a:pt x="271535" y="142875"/>
                    <a:pt x="285750" y="157090"/>
                    <a:pt x="285750" y="174625"/>
                  </a:cubicBezTo>
                  <a:cubicBezTo>
                    <a:pt x="285750" y="192160"/>
                    <a:pt x="271535" y="206375"/>
                    <a:pt x="254000" y="206375"/>
                  </a:cubicBezTo>
                  <a:lnTo>
                    <a:pt x="238125" y="206375"/>
                  </a:lnTo>
                  <a:cubicBezTo>
                    <a:pt x="229357" y="206375"/>
                    <a:pt x="222250" y="213482"/>
                    <a:pt x="222250" y="222250"/>
                  </a:cubicBezTo>
                  <a:lnTo>
                    <a:pt x="222250" y="269875"/>
                  </a:lnTo>
                  <a:cubicBezTo>
                    <a:pt x="222250" y="278643"/>
                    <a:pt x="215143" y="285750"/>
                    <a:pt x="206375" y="285750"/>
                  </a:cubicBezTo>
                  <a:lnTo>
                    <a:pt x="158750" y="285750"/>
                  </a:lnTo>
                  <a:cubicBezTo>
                    <a:pt x="149982" y="285750"/>
                    <a:pt x="142875" y="278643"/>
                    <a:pt x="142875" y="269875"/>
                  </a:cubicBezTo>
                  <a:lnTo>
                    <a:pt x="142875" y="254000"/>
                  </a:lnTo>
                  <a:cubicBezTo>
                    <a:pt x="142875" y="236465"/>
                    <a:pt x="128660" y="222250"/>
                    <a:pt x="111125" y="222250"/>
                  </a:cubicBezTo>
                  <a:cubicBezTo>
                    <a:pt x="93590" y="222250"/>
                    <a:pt x="79375" y="236465"/>
                    <a:pt x="79375" y="254000"/>
                  </a:cubicBezTo>
                  <a:lnTo>
                    <a:pt x="79375" y="269875"/>
                  </a:lnTo>
                  <a:cubicBezTo>
                    <a:pt x="79375" y="278643"/>
                    <a:pt x="72268" y="285750"/>
                    <a:pt x="63500" y="285750"/>
                  </a:cubicBezTo>
                  <a:lnTo>
                    <a:pt x="15875" y="285750"/>
                  </a:lnTo>
                  <a:cubicBezTo>
                    <a:pt x="7107" y="285750"/>
                    <a:pt x="0" y="278643"/>
                    <a:pt x="0" y="269875"/>
                  </a:cubicBezTo>
                  <a:lnTo>
                    <a:pt x="0" y="222250"/>
                  </a:lnTo>
                  <a:cubicBezTo>
                    <a:pt x="0" y="213482"/>
                    <a:pt x="7107" y="206375"/>
                    <a:pt x="15875" y="206375"/>
                  </a:cubicBezTo>
                  <a:lnTo>
                    <a:pt x="31750" y="206375"/>
                  </a:lnTo>
                  <a:cubicBezTo>
                    <a:pt x="49285" y="206375"/>
                    <a:pt x="63500" y="192160"/>
                    <a:pt x="63500" y="174625"/>
                  </a:cubicBezTo>
                  <a:cubicBezTo>
                    <a:pt x="63500" y="157090"/>
                    <a:pt x="49285" y="142875"/>
                    <a:pt x="31750" y="142875"/>
                  </a:cubicBezTo>
                  <a:lnTo>
                    <a:pt x="15875" y="142875"/>
                  </a:lnTo>
                  <a:cubicBezTo>
                    <a:pt x="7107" y="142875"/>
                    <a:pt x="0" y="135768"/>
                    <a:pt x="0" y="127000"/>
                  </a:cubicBezTo>
                  <a:lnTo>
                    <a:pt x="0" y="79375"/>
                  </a:lnTo>
                  <a:cubicBezTo>
                    <a:pt x="0" y="70607"/>
                    <a:pt x="7107" y="63500"/>
                    <a:pt x="15875" y="6350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47760" y="3728085"/>
              <a:ext cx="2198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detail_extension_popup.png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0618" y="39714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浏览器扩展弹窗界面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3" name="TextBox 4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20 / 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浏览器扩展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138963" cy="1162050"/>
            <a:chOff x="727710" y="402431"/>
            <a:chExt cx="3138963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生态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语音搜索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1189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Web Speech API 中文识别 — 说话就能搜到书签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87920" y="2019300"/>
            <a:ext cx="4141887" cy="3509962"/>
            <a:chOff x="787920" y="2019300"/>
            <a:chExt cx="4141887" cy="3509962"/>
          </a:xfrm>
        </p:grpSpPr>
        <p:grpSp>
          <p:nvGrpSpPr>
            <p:cNvPr id="17" name="Group 17"/>
            <p:cNvGrpSpPr/>
            <p:nvPr/>
          </p:nvGrpSpPr>
          <p:grpSpPr>
            <a:xfrm>
              <a:off x="809625" y="2019300"/>
              <a:ext cx="4022169" cy="509588"/>
              <a:chOff x="809625" y="2019300"/>
              <a:chExt cx="4022169" cy="509588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809625" y="2019300"/>
                <a:ext cx="133350" cy="190500"/>
                <a:chOff x="809625" y="2019300"/>
                <a:chExt cx="133350" cy="1905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47725" y="2019300"/>
                  <a:ext cx="571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04775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76200"/>
                      </a:lnTo>
                      <a:cubicBezTo>
                        <a:pt x="57150" y="91982"/>
                        <a:pt x="44357" y="104775"/>
                        <a:pt x="28575" y="104775"/>
                      </a:cubicBezTo>
                      <a:cubicBezTo>
                        <a:pt x="12793" y="104775"/>
                        <a:pt x="0" y="91982"/>
                        <a:pt x="0" y="76200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09625" y="2095500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0"/>
                      </a:moveTo>
                      <a:cubicBezTo>
                        <a:pt x="0" y="36824"/>
                        <a:pt x="29851" y="66675"/>
                        <a:pt x="66675" y="66675"/>
                      </a:cubicBezTo>
                      <a:cubicBezTo>
                        <a:pt x="103499" y="66675"/>
                        <a:pt x="133350" y="36824"/>
                        <a:pt x="133350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38200" y="220027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76300" y="21621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25855" y="2025968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浏览器原生语音识别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29665" y="2315528"/>
                <a:ext cx="37021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Web Speech API 无需额外权限，Chrome 原生支持中文识别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90575" y="3026092"/>
              <a:ext cx="4027218" cy="502920"/>
              <a:chOff x="790575" y="3026092"/>
              <a:chExt cx="4027218" cy="502920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790575" y="3028950"/>
                <a:ext cx="171450" cy="171450"/>
                <a:chOff x="790575" y="3028950"/>
                <a:chExt cx="171450" cy="17145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790575" y="3028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28575" y="171450"/>
                      </a:moveTo>
                      <a:lnTo>
                        <a:pt x="171450" y="28575"/>
                      </a:lnTo>
                      <a:lnTo>
                        <a:pt x="142875" y="0"/>
                      </a:lnTo>
                      <a:lnTo>
                        <a:pt x="0" y="142875"/>
                      </a:lnTo>
                      <a:lnTo>
                        <a:pt x="28575" y="1714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904875" y="3057525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0"/>
                      </a:moveTo>
                      <a:lnTo>
                        <a:pt x="28575" y="2857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28675" y="30289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19050" y="0"/>
                      </a:moveTo>
                      <a:cubicBezTo>
                        <a:pt x="19050" y="10521"/>
                        <a:pt x="27579" y="19050"/>
                        <a:pt x="38100" y="19050"/>
                      </a:cubicBezTo>
                      <a:cubicBezTo>
                        <a:pt x="27579" y="19050"/>
                        <a:pt x="19050" y="27579"/>
                        <a:pt x="19050" y="38100"/>
                      </a:cubicBezTo>
                      <a:cubicBezTo>
                        <a:pt x="19050" y="27579"/>
                        <a:pt x="10521" y="19050"/>
                        <a:pt x="0" y="19050"/>
                      </a:cubicBezTo>
                      <a:cubicBezTo>
                        <a:pt x="10521" y="19050"/>
                        <a:pt x="19050" y="10521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23925" y="312420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19050" y="0"/>
                      </a:moveTo>
                      <a:cubicBezTo>
                        <a:pt x="19050" y="10521"/>
                        <a:pt x="27579" y="19050"/>
                        <a:pt x="38100" y="19050"/>
                      </a:cubicBezTo>
                      <a:cubicBezTo>
                        <a:pt x="27579" y="19050"/>
                        <a:pt x="19050" y="27579"/>
                        <a:pt x="19050" y="38100"/>
                      </a:cubicBezTo>
                      <a:cubicBezTo>
                        <a:pt x="19050" y="27579"/>
                        <a:pt x="10521" y="19050"/>
                        <a:pt x="0" y="19050"/>
                      </a:cubicBezTo>
                      <a:cubicBezTo>
                        <a:pt x="10521" y="19050"/>
                        <a:pt x="19050" y="10521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125855" y="3026092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实时识别展示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29665" y="3315652"/>
                <a:ext cx="36881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边说边显示识别文字 · 语音结束后自动填入搜索框触发搜索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7920" y="4026218"/>
              <a:ext cx="4141887" cy="502920"/>
              <a:chOff x="787920" y="4026218"/>
              <a:chExt cx="4141887" cy="502920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787920" y="4030713"/>
                <a:ext cx="172200" cy="172467"/>
                <a:chOff x="787920" y="4030713"/>
                <a:chExt cx="172200" cy="172467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787920" y="4030713"/>
                  <a:ext cx="172200" cy="172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00" h="172467">
                      <a:moveTo>
                        <a:pt x="69330" y="267"/>
                      </a:moveTo>
                      <a:cubicBezTo>
                        <a:pt x="28087" y="9828"/>
                        <a:pt x="0" y="48066"/>
                        <a:pt x="3212" y="90281"/>
                      </a:cubicBezTo>
                      <a:cubicBezTo>
                        <a:pt x="6423" y="132495"/>
                        <a:pt x="39972" y="166044"/>
                        <a:pt x="82187" y="169255"/>
                      </a:cubicBezTo>
                      <a:cubicBezTo>
                        <a:pt x="124401" y="172467"/>
                        <a:pt x="162639" y="144380"/>
                        <a:pt x="172200" y="103137"/>
                      </a:cubicBezTo>
                      <a:cubicBezTo>
                        <a:pt x="172200" y="97877"/>
                        <a:pt x="167936" y="93612"/>
                        <a:pt x="162675" y="93612"/>
                      </a:cubicBezTo>
                      <a:lnTo>
                        <a:pt x="97905" y="93612"/>
                      </a:lnTo>
                      <a:cubicBezTo>
                        <a:pt x="87384" y="93612"/>
                        <a:pt x="78855" y="85083"/>
                        <a:pt x="78855" y="74562"/>
                      </a:cubicBezTo>
                      <a:lnTo>
                        <a:pt x="78855" y="7887"/>
                      </a:lnTo>
                      <a:cubicBezTo>
                        <a:pt x="78616" y="5608"/>
                        <a:pt x="77474" y="3519"/>
                        <a:pt x="75684" y="2087"/>
                      </a:cubicBezTo>
                      <a:cubicBezTo>
                        <a:pt x="73895" y="655"/>
                        <a:pt x="71606" y="0"/>
                        <a:pt x="69330" y="267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904875" y="403383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cubicBezTo>
                        <a:pt x="24496" y="8625"/>
                        <a:pt x="43762" y="27891"/>
                        <a:pt x="52388" y="52388"/>
                      </a:cubicBezTo>
                      <a:lnTo>
                        <a:pt x="9525" y="52388"/>
                      </a:lnTo>
                      <a:cubicBezTo>
                        <a:pt x="4264" y="52388"/>
                        <a:pt x="0" y="48123"/>
                        <a:pt x="0" y="42862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125855" y="402621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脉冲指示器动画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129665" y="4315778"/>
                <a:ext cx="38001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CSS 动画驱动的脉冲波纹，语音识别进行中时可见麦克风状态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90575" y="5026342"/>
              <a:ext cx="4097226" cy="502920"/>
              <a:chOff x="790575" y="5026342"/>
              <a:chExt cx="4097226" cy="502920"/>
            </a:xfrm>
          </p:grpSpPr>
          <p:grpSp>
            <p:nvGrpSpPr>
              <p:cNvPr id="34" name="Group 34"/>
              <p:cNvGrpSpPr/>
              <p:nvPr/>
            </p:nvGrpSpPr>
            <p:grpSpPr>
              <a:xfrm>
                <a:off x="790575" y="5029200"/>
                <a:ext cx="171450" cy="171450"/>
                <a:chOff x="790575" y="5029200"/>
                <a:chExt cx="171450" cy="17145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790575" y="50292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04875" y="5143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125855" y="5026342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自然语言搜索结合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129665" y="5315902"/>
                <a:ext cx="37581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"上次那个讲 React hooks 的视频" → 语义搜索召回相关书签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39" name="Rectangle 39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461375" y="3651250"/>
              <a:ext cx="222250" cy="311150"/>
              <a:chOff x="8461375" y="3651250"/>
              <a:chExt cx="222250" cy="3111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524875" y="3651250"/>
                <a:ext cx="95250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74625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127000"/>
                    </a:lnTo>
                    <a:cubicBezTo>
                      <a:pt x="95250" y="153303"/>
                      <a:pt x="73928" y="174625"/>
                      <a:pt x="47625" y="174625"/>
                    </a:cubicBezTo>
                    <a:cubicBezTo>
                      <a:pt x="21322" y="174625"/>
                      <a:pt x="0" y="153303"/>
                      <a:pt x="0" y="127000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461375" y="3778250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>
                    <a:moveTo>
                      <a:pt x="0" y="0"/>
                    </a:moveTo>
                    <a:cubicBezTo>
                      <a:pt x="0" y="61373"/>
                      <a:pt x="49752" y="111125"/>
                      <a:pt x="111125" y="111125"/>
                    </a:cubicBezTo>
                    <a:cubicBezTo>
                      <a:pt x="172498" y="111125"/>
                      <a:pt x="222250" y="61373"/>
                      <a:pt x="22225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509000" y="395287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72500" y="38893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747760" y="37280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detail_voice.png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0618" y="3971449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语音搜索脉冲动画 + 识别文字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9" name="TextBox 49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21 / 25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语音搜索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649027" cy="1162050"/>
            <a:chOff x="727710" y="402431"/>
            <a:chExt cx="3649027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生态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分享与协作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公开分享收藏夹 · 单条书签分享卡片 · CORS 跨域支持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90575" y="2025968"/>
            <a:ext cx="4412266" cy="3503294"/>
            <a:chOff x="790575" y="2025968"/>
            <a:chExt cx="4412266" cy="3503294"/>
          </a:xfrm>
        </p:grpSpPr>
        <p:grpSp>
          <p:nvGrpSpPr>
            <p:cNvPr id="13" name="Group 13"/>
            <p:cNvGrpSpPr/>
            <p:nvPr/>
          </p:nvGrpSpPr>
          <p:grpSpPr>
            <a:xfrm>
              <a:off x="790575" y="2025968"/>
              <a:ext cx="4356259" cy="502920"/>
              <a:chOff x="790575" y="2025968"/>
              <a:chExt cx="4356259" cy="5029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90575" y="2038350"/>
                <a:ext cx="1714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75">
                    <a:moveTo>
                      <a:pt x="19050" y="0"/>
                    </a:moveTo>
                    <a:lnTo>
                      <a:pt x="57150" y="0"/>
                    </a:lnTo>
                    <a:lnTo>
                      <a:pt x="85725" y="28575"/>
                    </a:lnTo>
                    <a:lnTo>
                      <a:pt x="152400" y="28575"/>
                    </a:lnTo>
                    <a:cubicBezTo>
                      <a:pt x="162921" y="28575"/>
                      <a:pt x="171450" y="37104"/>
                      <a:pt x="171450" y="47625"/>
                    </a:cubicBezTo>
                    <a:lnTo>
                      <a:pt x="171450" y="123825"/>
                    </a:lnTo>
                    <a:cubicBezTo>
                      <a:pt x="171450" y="134346"/>
                      <a:pt x="162921" y="142875"/>
                      <a:pt x="152400" y="142875"/>
                    </a:cubicBezTo>
                    <a:lnTo>
                      <a:pt x="19050" y="142875"/>
                    </a:lnTo>
                    <a:cubicBezTo>
                      <a:pt x="8529" y="142875"/>
                      <a:pt x="0" y="134346"/>
                      <a:pt x="0" y="123825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25855" y="20259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共享收藏夹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29665" y="2315528"/>
                <a:ext cx="40171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收藏夹设为公开 → 生成分享链接 `/share/[id]` → 可管理可撤销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90575" y="3026092"/>
              <a:ext cx="3635169" cy="502920"/>
              <a:chOff x="790575" y="3026092"/>
              <a:chExt cx="3635169" cy="502920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790575" y="3028950"/>
                <a:ext cx="171450" cy="171450"/>
                <a:chOff x="790575" y="3028950"/>
                <a:chExt cx="171450" cy="17145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790575" y="30861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904875" y="30289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04875" y="31432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844868" y="3069908"/>
                  <a:ext cx="62865" cy="32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" h="32385">
                      <a:moveTo>
                        <a:pt x="0" y="32385"/>
                      </a:moveTo>
                      <a:lnTo>
                        <a:pt x="6286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844868" y="3127058"/>
                  <a:ext cx="62865" cy="32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" h="32385">
                      <a:moveTo>
                        <a:pt x="0" y="0"/>
                      </a:moveTo>
                      <a:lnTo>
                        <a:pt x="62865" y="3238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125855" y="3026092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单条书签分享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29665" y="3315652"/>
                <a:ext cx="32960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生成分享 Token → 分享卡片页面 → 一键复制链接发送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16769" y="4019550"/>
              <a:ext cx="4386072" cy="509588"/>
              <a:chOff x="816769" y="4019550"/>
              <a:chExt cx="4386072" cy="509588"/>
            </a:xfrm>
          </p:grpSpPr>
          <p:grpSp>
            <p:nvGrpSpPr>
              <p:cNvPr id="27" name="Group 27"/>
              <p:cNvGrpSpPr/>
              <p:nvPr/>
            </p:nvGrpSpPr>
            <p:grpSpPr>
              <a:xfrm>
                <a:off x="816769" y="4019550"/>
                <a:ext cx="128072" cy="190500"/>
                <a:chOff x="816769" y="4019550"/>
                <a:chExt cx="128072" cy="1905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28675" y="404812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16769" y="4019550"/>
                  <a:ext cx="128072" cy="147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72" h="147824">
                      <a:moveTo>
                        <a:pt x="0" y="123825"/>
                      </a:moveTo>
                      <a:cubicBezTo>
                        <a:pt x="21926" y="142870"/>
                        <a:pt x="52758" y="147824"/>
                        <a:pt x="79547" y="136608"/>
                      </a:cubicBezTo>
                      <a:cubicBezTo>
                        <a:pt x="106335" y="125392"/>
                        <a:pt x="124440" y="99948"/>
                        <a:pt x="126256" y="70963"/>
                      </a:cubicBezTo>
                      <a:cubicBezTo>
                        <a:pt x="128072" y="41978"/>
                        <a:pt x="113285" y="14472"/>
                        <a:pt x="88106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66775" y="41624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28675" y="420052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125855" y="4026218"/>
                <a:ext cx="148977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CORS 跨域中间件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29665" y="4315778"/>
                <a:ext cx="40731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浏览器扩展 / localhost / 自定义域名统一支持 · 安全白名单策略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00100" y="5026342"/>
              <a:ext cx="3478625" cy="502920"/>
              <a:chOff x="800100" y="5026342"/>
              <a:chExt cx="3478625" cy="502920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800100" y="5038725"/>
                <a:ext cx="152400" cy="152400"/>
                <a:chOff x="800100" y="5038725"/>
                <a:chExt cx="152400" cy="1524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800100" y="503872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00100" y="51530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95350" y="511492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95350" y="50387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125855" y="502634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响应式设计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9665" y="5315902"/>
                <a:ext cx="31490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2A26">
                        <a:alphaMod val="4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桌面固定侧边栏 · 移动端抽屉式 · 响应式卡片布局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40" name="Rectangle 40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429625" y="3667125"/>
              <a:ext cx="285750" cy="285750"/>
              <a:chOff x="8429625" y="3667125"/>
              <a:chExt cx="285750" cy="2857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429625" y="3762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20125" y="3667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620125" y="3857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520112" y="3735388"/>
                <a:ext cx="1047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3975">
                    <a:moveTo>
                      <a:pt x="0" y="53975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520112" y="3830638"/>
                <a:ext cx="1047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3975">
                    <a:moveTo>
                      <a:pt x="0" y="0"/>
                    </a:moveTo>
                    <a:lnTo>
                      <a:pt x="104775" y="539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747760" y="3728085"/>
              <a:ext cx="1358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detail_share.png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50618" y="3971449"/>
              <a:ext cx="12664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分享收藏夹/分享卡片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51" name="TextBox 51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22 / 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分享与协作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941564" cy="1162050"/>
            <a:chOff x="727710" y="402431"/>
            <a:chExt cx="3941564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安全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认证与安全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9215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双重认证保障安全 · API Key 开放集成 — 兼顾安全与可扩展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4855" y="1806892"/>
            <a:ext cx="5208270" cy="2905602"/>
            <a:chOff x="744855" y="1806892"/>
            <a:chExt cx="5208270" cy="2905602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8068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认证体系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143125"/>
              <a:ext cx="5191125" cy="2095500"/>
            </a:xfrm>
            <a:prstGeom prst="roundRect">
              <a:avLst>
                <a:gd name="adj" fmla="val 5455"/>
              </a:avLst>
            </a:prstGeom>
            <a:solidFill>
              <a:srgbClr val="F2F0ED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rcRect l="0" t="34392" r="0" b="34392"/>
            <a:stretch>
              <a:fillRect/>
            </a:stretch>
          </p:blipFill>
          <p:spPr>
            <a:xfrm>
              <a:off x="762000" y="2143125"/>
              <a:ext cx="5191125" cy="20955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749618" y="4514374"/>
              <a:ext cx="47573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35000"/>
                    </a:srgbClr>
                  </a:solidFill>
                  <a:latin typeface="Segoe UI"/>
                  <a:ea typeface="Microsoft YaHei"/>
                  <a:cs typeface="Segoe UI"/>
                </a:rPr>
                <a:t>GitHub OAuth 登录 · NextAuth v5 · 双重中间件（Session 优先 + API Key 回退）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21730" y="1806892"/>
            <a:ext cx="5208270" cy="2905602"/>
            <a:chOff x="6221730" y="1806892"/>
            <a:chExt cx="5208270" cy="2905602"/>
          </a:xfrm>
        </p:grpSpPr>
        <p:sp>
          <p:nvSpPr>
            <p:cNvPr id="15" name="TextBox 15"/>
            <p:cNvSpPr txBox="1"/>
            <p:nvPr/>
          </p:nvSpPr>
          <p:spPr>
            <a:xfrm>
              <a:off x="6221730" y="1806892"/>
              <a:ext cx="11022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Segoe UI"/>
                  <a:ea typeface="Microsoft YaHei"/>
                  <a:cs typeface="Segoe UI"/>
                </a:rPr>
                <a:t>API Key 管理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38875" y="2143125"/>
              <a:ext cx="5191125" cy="2095500"/>
            </a:xfrm>
            <a:prstGeom prst="roundRect">
              <a:avLst>
                <a:gd name="adj" fmla="val 5455"/>
              </a:avLst>
            </a:prstGeom>
            <a:solidFill>
              <a:srgbClr val="F2F0ED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rcRect l="0" t="9878" r="0" b="9878"/>
            <a:stretch>
              <a:fillRect/>
            </a:stretch>
          </p:blipFill>
          <p:spPr>
            <a:xfrm>
              <a:off x="6238875" y="2143125"/>
              <a:ext cx="5191125" cy="20955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6226492" y="4514374"/>
              <a:ext cx="42242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35000"/>
                    </a:srgbClr>
                  </a:solidFill>
                  <a:latin typeface="Segoe UI"/>
                  <a:ea typeface="Microsoft YaHei"/>
                  <a:cs typeface="Segoe UI"/>
                </a:rPr>
                <a:t>mb_ 前缀 96 字符随机密钥 · SHA-256 哈希存储 · 仅生成时完整显示一次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5048250"/>
            <a:ext cx="10668000" cy="523875"/>
            <a:chOff x="762000" y="5048250"/>
            <a:chExt cx="10668000" cy="523875"/>
          </a:xfrm>
        </p:grpSpPr>
        <p:grpSp>
          <p:nvGrpSpPr>
            <p:cNvPr id="23" name="Group 23"/>
            <p:cNvGrpSpPr/>
            <p:nvPr/>
          </p:nvGrpSpPr>
          <p:grpSpPr>
            <a:xfrm>
              <a:off x="762000" y="5048250"/>
              <a:ext cx="2571750" cy="523875"/>
              <a:chOff x="762000" y="5048250"/>
              <a:chExt cx="2571750" cy="523875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5048250"/>
                <a:ext cx="257175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41070" y="51892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双重中间件认证链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42022" y="5368766"/>
                <a:ext cx="141813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Session 优先 · API Key 回退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524250" y="5048250"/>
              <a:ext cx="2571750" cy="523875"/>
              <a:chOff x="3524250" y="5048250"/>
              <a:chExt cx="2571750" cy="52387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524250" y="5048250"/>
                <a:ext cx="257175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703320" y="5189220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显示 / 隐藏 / 复制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04272" y="5368766"/>
                <a:ext cx="112109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可随时查看（非首次）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5048250"/>
              <a:ext cx="2571750" cy="523875"/>
              <a:chOff x="6286500" y="5048250"/>
              <a:chExt cx="2571750" cy="5238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286500" y="5048250"/>
                <a:ext cx="257175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465570" y="5189220"/>
                <a:ext cx="8809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吊销 + 重新生成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466522" y="5368766"/>
                <a:ext cx="90106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密钥泄露即时止损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9048750" y="5048250"/>
              <a:ext cx="2381250" cy="523875"/>
              <a:chOff x="9048750" y="5048250"/>
              <a:chExt cx="2381250" cy="523875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9048750" y="5048250"/>
                <a:ext cx="238125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227820" y="5189220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SHA-256 哈希存储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228772" y="536876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明文永不落盘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7" name="TextBox 37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23 / 25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认证与安全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4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4766667" cy="1162050"/>
            <a:chOff x="727710" y="402431"/>
            <a:chExt cx="4766667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安全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5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D2A26"/>
                  </a:solidFill>
                  <a:latin typeface="Playfair Display"/>
                  <a:ea typeface="SimSun"/>
                  <a:cs typeface="Playfair Display"/>
                </a:rPr>
                <a:t>管理面板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47466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多用户管理 · 书签审查 · 数据导出 — 为团队和实例管理员提供完整控制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809750"/>
            <a:ext cx="10668000" cy="3238500"/>
            <a:chOff x="762000" y="1809750"/>
            <a:chExt cx="10668000" cy="3238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809750"/>
              <a:ext cx="10668000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809750"/>
              <a:ext cx="10668000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30000"/>
                </a:srgbClr>
              </a:solidFill>
              <a:prstDash val="lgDash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62625" y="3143250"/>
              <a:ext cx="285750" cy="285750"/>
              <a:chOff x="5762625" y="3143250"/>
              <a:chExt cx="285750" cy="28575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94375" y="31432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62625" y="333375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69000" y="3145314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19"/>
                      <a:pt x="28097" y="115837"/>
                      <a:pt x="0" y="1230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00750" y="3336131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508688" y="3585210"/>
              <a:ext cx="1174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2A26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full_admin.png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63552" y="38285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管理面板全貌截图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5334000"/>
            <a:ext cx="10668000" cy="666750"/>
            <a:chOff x="762000" y="5334000"/>
            <a:chExt cx="10668000" cy="666750"/>
          </a:xfrm>
        </p:grpSpPr>
        <p:grpSp>
          <p:nvGrpSpPr>
            <p:cNvPr id="28" name="Group 28"/>
            <p:cNvGrpSpPr/>
            <p:nvPr/>
          </p:nvGrpSpPr>
          <p:grpSpPr>
            <a:xfrm>
              <a:off x="762000" y="5334000"/>
              <a:ext cx="3381375" cy="666750"/>
              <a:chOff x="762000" y="5334000"/>
              <a:chExt cx="3381375" cy="666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5334000"/>
                <a:ext cx="3381375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2D2A26">
                    <a:alpha val="8000"/>
                  </a:srgbClr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1071562" y="5595938"/>
                <a:ext cx="142875" cy="142875"/>
                <a:chOff x="1071562" y="5595938"/>
                <a:chExt cx="142875" cy="14287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1087438" y="5595938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071562" y="5691188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174750" y="5596969"/>
                  <a:ext cx="23875" cy="615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5" h="61516">
                      <a:moveTo>
                        <a:pt x="0" y="0"/>
                      </a:moveTo>
                      <a:cubicBezTo>
                        <a:pt x="14049" y="3597"/>
                        <a:pt x="23875" y="16256"/>
                        <a:pt x="23875" y="30758"/>
                      </a:cubicBezTo>
                      <a:cubicBezTo>
                        <a:pt x="23875" y="45260"/>
                        <a:pt x="14049" y="57919"/>
                        <a:pt x="0" y="61516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90625" y="5692378"/>
                  <a:ext cx="23812" cy="46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6434">
                      <a:moveTo>
                        <a:pt x="23812" y="46434"/>
                      </a:moveTo>
                      <a:lnTo>
                        <a:pt x="23812" y="30559"/>
                      </a:lnTo>
                      <a:cubicBezTo>
                        <a:pt x="23730" y="16149"/>
                        <a:pt x="13953" y="3602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1367790" y="5458778"/>
                <a:ext cx="13718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用户列表 · 角色分配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36320" y="5713095"/>
                <a:ext cx="19070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多用户管理 · 管理员/普通用户角色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333875" y="5334000"/>
              <a:ext cx="3381375" cy="666750"/>
              <a:chOff x="4333875" y="5334000"/>
              <a:chExt cx="3381375" cy="666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333875" y="5334000"/>
                <a:ext cx="3381375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2D2A26">
                    <a:alpha val="8000"/>
                  </a:srgbClr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4643438" y="5619750"/>
                <a:ext cx="142875" cy="95250"/>
                <a:chOff x="4643438" y="5619750"/>
                <a:chExt cx="142875" cy="952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4699000" y="5651500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643438" y="5619750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142875" y="47625"/>
                      </a:moveTo>
                      <a:cubicBezTo>
                        <a:pt x="123825" y="79375"/>
                        <a:pt x="100012" y="95250"/>
                        <a:pt x="71438" y="95250"/>
                      </a:cubicBezTo>
                      <a:cubicBezTo>
                        <a:pt x="42862" y="95250"/>
                        <a:pt x="19050" y="79375"/>
                        <a:pt x="0" y="47625"/>
                      </a:cubicBezTo>
                      <a:cubicBezTo>
                        <a:pt x="19050" y="15875"/>
                        <a:pt x="42862" y="0"/>
                        <a:pt x="71438" y="0"/>
                      </a:cubicBezTo>
                      <a:cubicBezTo>
                        <a:pt x="100012" y="0"/>
                        <a:pt x="123825" y="15875"/>
                        <a:pt x="142875" y="476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4939665" y="5458778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查看任意用户书签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08195" y="5713095"/>
                <a:ext cx="16490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管理员视角浏览/审查书签数据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905750" y="5334000"/>
              <a:ext cx="3524250" cy="666750"/>
              <a:chOff x="7905750" y="5334000"/>
              <a:chExt cx="3524250" cy="6667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905750" y="5334000"/>
                <a:ext cx="3524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9525">
                <a:solidFill>
                  <a:srgbClr val="2D2A26">
                    <a:alpha val="8000"/>
                  </a:srgbClr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223250" y="5603875"/>
                <a:ext cx="127000" cy="134937"/>
                <a:chOff x="8223250" y="5603875"/>
                <a:chExt cx="127000" cy="134937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8223250" y="5707062"/>
                  <a:ext cx="12700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31750">
                      <a:moveTo>
                        <a:pt x="0" y="0"/>
                      </a:moveTo>
                      <a:lnTo>
                        <a:pt x="0" y="15875"/>
                      </a:lnTo>
                      <a:cubicBezTo>
                        <a:pt x="0" y="24643"/>
                        <a:pt x="7107" y="31750"/>
                        <a:pt x="15875" y="31750"/>
                      </a:cubicBezTo>
                      <a:lnTo>
                        <a:pt x="111125" y="31750"/>
                      </a:lnTo>
                      <a:cubicBezTo>
                        <a:pt x="119893" y="31750"/>
                        <a:pt x="127000" y="24643"/>
                        <a:pt x="127000" y="1587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247062" y="5659438"/>
                  <a:ext cx="79375" cy="3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39688">
                      <a:moveTo>
                        <a:pt x="0" y="0"/>
                      </a:moveTo>
                      <a:lnTo>
                        <a:pt x="39687" y="39688"/>
                      </a:lnTo>
                      <a:lnTo>
                        <a:pt x="7937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286750" y="5603875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511540" y="5458778"/>
                <a:ext cx="17688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D2A26"/>
                    </a:solidFill>
                    <a:latin typeface="Segoe UI"/>
                    <a:ea typeface="Microsoft YaHei"/>
                    <a:cs typeface="Segoe UI"/>
                  </a:rPr>
                  <a:t>统计卡片 · 数据导出 JSON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180070" y="5713095"/>
                <a:ext cx="148104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2A26">
                        <a:alphaMod val="28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数据库统计总览 · 导出备份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5" name="TextBox 45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24 / 25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管理面板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6000"/>
                  </a:srgbClr>
                </a:gs>
                <a:gs pos="100000">
                  <a:srgbClr val="FAFAF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762250" y="95250"/>
            <a:ext cx="6667500" cy="6667500"/>
            <a:chOff x="2762250" y="95250"/>
            <a:chExt cx="6667500" cy="6667500"/>
          </a:xfrm>
        </p:grpSpPr>
        <p:sp>
          <p:nvSpPr>
            <p:cNvPr id="5" name="Ellipse 5"/>
            <p:cNvSpPr/>
            <p:nvPr/>
          </p:nvSpPr>
          <p:spPr>
            <a:xfrm>
              <a:off x="3429000" y="762000"/>
              <a:ext cx="5334000" cy="5334000"/>
            </a:xfrm>
            <a:prstGeom prst="ellipse">
              <a:avLst/>
            </a:prstGeom>
            <a:noFill/>
            <a:ln w="4762">
              <a:solidFill>
                <a:srgbClr val="C9866B">
                  <a:alpha val="6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2762250" y="95250"/>
              <a:ext cx="6667500" cy="6667500"/>
            </a:xfrm>
            <a:prstGeom prst="ellipse">
              <a:avLst/>
            </a:prstGeom>
            <a:noFill/>
            <a:ln w="4762">
              <a:solidFill>
                <a:srgbClr val="D4A574">
                  <a:alpha val="3000"/>
                </a:srgb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124999" y="1548765"/>
            <a:ext cx="3942002" cy="953929"/>
            <a:chOff x="4124999" y="1548765"/>
            <a:chExt cx="3942002" cy="953929"/>
          </a:xfrm>
        </p:grpSpPr>
        <p:sp>
          <p:nvSpPr>
            <p:cNvPr id="8" name="TextBox 8"/>
            <p:cNvSpPr txBox="1"/>
            <p:nvPr/>
          </p:nvSpPr>
          <p:spPr>
            <a:xfrm>
              <a:off x="4124999" y="1548765"/>
              <a:ext cx="394200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C9866B"/>
                  </a:solidFill>
                  <a:latin typeface="Playfair Display"/>
                  <a:ea typeface="SimSun"/>
                  <a:cs typeface="Playfair Display"/>
                </a:rPr>
                <a:t>开始使用 MarkBox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69081" y="2243614"/>
              <a:ext cx="36538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2D2A26">
                      <a:alphaMod val="35000"/>
                    </a:srgbClr>
                  </a:solidFill>
                  <a:latin typeface="Segoe UI"/>
                  <a:ea typeface="Microsoft YaHei"/>
                  <a:cs typeface="Segoe UI"/>
                </a:rPr>
                <a:t>开源免费 · 一行命令 · 让书签成为你的第二大脑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05000" y="2857500"/>
            <a:ext cx="8382000" cy="1714500"/>
            <a:chOff x="1905000" y="2857500"/>
            <a:chExt cx="83820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1905000" y="2857500"/>
              <a:ext cx="8382000" cy="1714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2D2A26">
                  <a:alpha val="1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70760" y="3108960"/>
              <a:ext cx="46230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git clone https://github.com/KaWaIiMT/Web_Bookmark.git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70760" y="3442335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cd Web_Bookmark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70760" y="3775710"/>
              <a:ext cx="37909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45000"/>
                    </a:srgbClr>
                  </a:solidFill>
                  <a:latin typeface="Consolas"/>
                  <a:ea typeface="Microsoft YaHei"/>
                  <a:cs typeface="Consolas"/>
                </a:rPr>
                <a:t>npm install &amp;&amp; npx prisma db push &amp;&amp; npm run dev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73618" y="4200049"/>
              <a:ext cx="2319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打开 http://localhost:3000 即可使用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91000" y="5143500"/>
            <a:ext cx="3915537" cy="457200"/>
            <a:chOff x="4191000" y="5143500"/>
            <a:chExt cx="3915537" cy="457200"/>
          </a:xfrm>
        </p:grpSpPr>
        <p:sp>
          <p:nvSpPr>
            <p:cNvPr id="17" name="Rectangle 17"/>
            <p:cNvSpPr/>
            <p:nvPr/>
          </p:nvSpPr>
          <p:spPr>
            <a:xfrm>
              <a:off x="4191000" y="5143500"/>
              <a:ext cx="1714500" cy="4572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494274" y="5284805"/>
              <a:ext cx="174381" cy="165833"/>
            </a:xfrm>
            <a:custGeom>
              <a:avLst/>
              <a:gdLst/>
              <a:ahLst/>
              <a:cxnLst/>
              <a:rect l="l" t="t" r="r" b="b"/>
              <a:pathLst>
                <a:path w="174381" h="165833">
                  <a:moveTo>
                    <a:pt x="87251" y="137500"/>
                  </a:moveTo>
                  <a:lnTo>
                    <a:pt x="33362" y="165833"/>
                  </a:lnTo>
                  <a:lnTo>
                    <a:pt x="43656" y="105823"/>
                  </a:lnTo>
                  <a:lnTo>
                    <a:pt x="0" y="63328"/>
                  </a:lnTo>
                  <a:lnTo>
                    <a:pt x="60246" y="54597"/>
                  </a:lnTo>
                  <a:lnTo>
                    <a:pt x="87190" y="0"/>
                  </a:lnTo>
                  <a:lnTo>
                    <a:pt x="114135" y="54597"/>
                  </a:lnTo>
                  <a:lnTo>
                    <a:pt x="174381" y="63328"/>
                  </a:lnTo>
                  <a:lnTo>
                    <a:pt x="130724" y="105823"/>
                  </a:lnTo>
                  <a:lnTo>
                    <a:pt x="141018" y="165833"/>
                  </a:lnTo>
                  <a:lnTo>
                    <a:pt x="87251" y="137500"/>
                  </a:ln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94885" y="5290185"/>
              <a:ext cx="11982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866B"/>
                  </a:solidFill>
                  <a:latin typeface="Segoe UI"/>
                  <a:ea typeface="Microsoft YaHei"/>
                  <a:cs typeface="Segoe UI"/>
                </a:rPr>
                <a:t>Star on GitHub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0" y="51435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6000"/>
              </a:srgbClr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425406" y="5302250"/>
              <a:ext cx="122238" cy="139700"/>
              <a:chOff x="6425406" y="5302250"/>
              <a:chExt cx="122238" cy="1397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469062" y="540702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425406" y="530225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12719" y="530225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42869" y="5337175"/>
                <a:ext cx="87313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34925">
                    <a:moveTo>
                      <a:pt x="0" y="0"/>
                    </a:moveTo>
                    <a:lnTo>
                      <a:pt x="0" y="17462"/>
                    </a:lnTo>
                    <a:cubicBezTo>
                      <a:pt x="0" y="27107"/>
                      <a:pt x="7818" y="34925"/>
                      <a:pt x="17463" y="34925"/>
                    </a:cubicBezTo>
                    <a:lnTo>
                      <a:pt x="69850" y="34925"/>
                    </a:lnTo>
                    <a:cubicBezTo>
                      <a:pt x="79494" y="34925"/>
                      <a:pt x="87313" y="27107"/>
                      <a:pt x="87313" y="17462"/>
                    </a:cubicBezTo>
                    <a:lnTo>
                      <a:pt x="87313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86525" y="5372100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699885" y="5290185"/>
              <a:ext cx="1406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Fork &amp; Contribute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857500" y="5953125"/>
            <a:ext cx="6477000" cy="378619"/>
            <a:chOff x="2857500" y="5953125"/>
            <a:chExt cx="6477000" cy="378619"/>
          </a:xfrm>
        </p:grpSpPr>
        <p:sp>
          <p:nvSpPr>
            <p:cNvPr id="29" name="Line 29"/>
            <p:cNvSpPr/>
            <p:nvPr/>
          </p:nvSpPr>
          <p:spPr>
            <a:xfrm>
              <a:off x="2857500" y="5953125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4762">
              <a:solidFill>
                <a:srgbClr val="2D2A26">
                  <a:alpha val="1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90756" y="6133624"/>
              <a:ext cx="58104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Next.js 16 · Prisma 7 · DeepSeek V4 Flash · TypeScript · 36 API · 28 组件 · 10 视图 · 开源 MIT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2" name="TextBox 32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2D2A26">
                      <a:alphaMod val="28000"/>
                    </a:srgbClr>
                  </a:solidFill>
                  <a:latin typeface="Segoe UI"/>
                  <a:ea typeface="Microsoft YaHei"/>
                  <a:cs typeface="Segoe UI"/>
                </a:rPr>
                <a:t>25 / 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2A26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MarkBox · 开始使用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8" grpId="0"/>
      <p:bldP spid="3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2026-06-17T06:46:48Z</dcterms:created>
  <dcterms:modified xsi:type="dcterms:W3CDTF">2026-06-17T06:46:48Z</dcterms:modified>
  <cp:category/>
  <cp:contentStatus/>
</cp:coreProperties>
</file>